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57" r:id="rId3"/>
    <p:sldId id="258" r:id="rId4"/>
    <p:sldId id="289" r:id="rId5"/>
    <p:sldId id="292" r:id="rId6"/>
    <p:sldId id="290" r:id="rId7"/>
    <p:sldId id="291" r:id="rId8"/>
    <p:sldId id="260" r:id="rId9"/>
    <p:sldId id="261" r:id="rId10"/>
    <p:sldId id="262" r:id="rId11"/>
    <p:sldId id="263" r:id="rId12"/>
    <p:sldId id="264" r:id="rId13"/>
    <p:sldId id="265" r:id="rId14"/>
    <p:sldId id="266" r:id="rId15"/>
    <p:sldId id="267" r:id="rId16"/>
    <p:sldId id="268" r:id="rId17"/>
    <p:sldId id="269" r:id="rId18"/>
    <p:sldId id="271" r:id="rId19"/>
    <p:sldId id="272" r:id="rId20"/>
    <p:sldId id="273"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8" d="100"/>
          <a:sy n="98" d="100"/>
        </p:scale>
        <p:origin x="101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Hammad" userId="1e363afd1cdc234c" providerId="LiveId" clId="{1F6D2CC6-4FDB-4A09-A4D6-EFCC63046740}"/>
    <pc:docChg chg="modSld">
      <pc:chgData name="Muhammad Hammad" userId="1e363afd1cdc234c" providerId="LiveId" clId="{1F6D2CC6-4FDB-4A09-A4D6-EFCC63046740}" dt="2025-12-21T13:15:43.839" v="15" actId="20577"/>
      <pc:docMkLst>
        <pc:docMk/>
      </pc:docMkLst>
      <pc:sldChg chg="modSp mod">
        <pc:chgData name="Muhammad Hammad" userId="1e363afd1cdc234c" providerId="LiveId" clId="{1F6D2CC6-4FDB-4A09-A4D6-EFCC63046740}" dt="2025-12-21T13:15:02.295" v="1" actId="20577"/>
        <pc:sldMkLst>
          <pc:docMk/>
          <pc:sldMk cId="0" sldId="263"/>
        </pc:sldMkLst>
        <pc:spChg chg="mod">
          <ac:chgData name="Muhammad Hammad" userId="1e363afd1cdc234c" providerId="LiveId" clId="{1F6D2CC6-4FDB-4A09-A4D6-EFCC63046740}" dt="2025-12-21T13:15:02.295" v="1" actId="20577"/>
          <ac:spMkLst>
            <pc:docMk/>
            <pc:sldMk cId="0" sldId="263"/>
            <ac:spMk id="3" creationId="{00000000-0000-0000-0000-000000000000}"/>
          </ac:spMkLst>
        </pc:spChg>
      </pc:sldChg>
      <pc:sldChg chg="modSp mod">
        <pc:chgData name="Muhammad Hammad" userId="1e363afd1cdc234c" providerId="LiveId" clId="{1F6D2CC6-4FDB-4A09-A4D6-EFCC63046740}" dt="2025-12-21T13:15:27.038" v="9" actId="20577"/>
        <pc:sldMkLst>
          <pc:docMk/>
          <pc:sldMk cId="0" sldId="279"/>
        </pc:sldMkLst>
        <pc:spChg chg="mod">
          <ac:chgData name="Muhammad Hammad" userId="1e363afd1cdc234c" providerId="LiveId" clId="{1F6D2CC6-4FDB-4A09-A4D6-EFCC63046740}" dt="2025-12-21T13:15:27.038" v="9" actId="20577"/>
          <ac:spMkLst>
            <pc:docMk/>
            <pc:sldMk cId="0" sldId="279"/>
            <ac:spMk id="2" creationId="{00000000-0000-0000-0000-000000000000}"/>
          </ac:spMkLst>
        </pc:spChg>
      </pc:sldChg>
      <pc:sldChg chg="modSp mod">
        <pc:chgData name="Muhammad Hammad" userId="1e363afd1cdc234c" providerId="LiveId" clId="{1F6D2CC6-4FDB-4A09-A4D6-EFCC63046740}" dt="2025-12-21T13:15:38.174" v="13" actId="20577"/>
        <pc:sldMkLst>
          <pc:docMk/>
          <pc:sldMk cId="0" sldId="281"/>
        </pc:sldMkLst>
        <pc:spChg chg="mod">
          <ac:chgData name="Muhammad Hammad" userId="1e363afd1cdc234c" providerId="LiveId" clId="{1F6D2CC6-4FDB-4A09-A4D6-EFCC63046740}" dt="2025-12-21T13:15:38.174" v="13" actId="20577"/>
          <ac:spMkLst>
            <pc:docMk/>
            <pc:sldMk cId="0" sldId="281"/>
            <ac:spMk id="3" creationId="{00000000-0000-0000-0000-000000000000}"/>
          </ac:spMkLst>
        </pc:spChg>
      </pc:sldChg>
      <pc:sldChg chg="modSp mod">
        <pc:chgData name="Muhammad Hammad" userId="1e363afd1cdc234c" providerId="LiveId" clId="{1F6D2CC6-4FDB-4A09-A4D6-EFCC63046740}" dt="2025-12-21T13:15:43.839" v="15" actId="20577"/>
        <pc:sldMkLst>
          <pc:docMk/>
          <pc:sldMk cId="0" sldId="282"/>
        </pc:sldMkLst>
        <pc:spChg chg="mod">
          <ac:chgData name="Muhammad Hammad" userId="1e363afd1cdc234c" providerId="LiveId" clId="{1F6D2CC6-4FDB-4A09-A4D6-EFCC63046740}" dt="2025-12-21T13:15:43.839" v="15" actId="20577"/>
          <ac:spMkLst>
            <pc:docMk/>
            <pc:sldMk cId="0" sldId="28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500" b="1" i="0">
                <a:solidFill>
                  <a:srgbClr val="184E99"/>
                </a:solidFill>
                <a:latin typeface="Verdana"/>
                <a:cs typeface="Verdan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184E99"/>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184E99"/>
                </a:solidFill>
                <a:latin typeface="Verdana"/>
                <a:cs typeface="Verdan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title"/>
          </p:nvPr>
        </p:nvSpPr>
        <p:spPr/>
        <p:txBody>
          <a:bodyPr lIns="0" tIns="0" rIns="0" bIns="0"/>
          <a:lstStyle>
            <a:lvl1pPr>
              <a:defRPr sz="2500" b="1" i="0">
                <a:solidFill>
                  <a:srgbClr val="184E99"/>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5143500"/>
          </a:xfrm>
          <a:prstGeom prst="rect">
            <a:avLst/>
          </a:prstGeom>
        </p:spPr>
      </p:pic>
      <p:sp>
        <p:nvSpPr>
          <p:cNvPr id="2" name="Holder 2"/>
          <p:cNvSpPr>
            <a:spLocks noGrp="1"/>
          </p:cNvSpPr>
          <p:nvPr>
            <p:ph type="title"/>
          </p:nvPr>
        </p:nvSpPr>
        <p:spPr>
          <a:xfrm>
            <a:off x="384725" y="483673"/>
            <a:ext cx="5942965" cy="409575"/>
          </a:xfrm>
          <a:prstGeom prst="rect">
            <a:avLst/>
          </a:prstGeom>
        </p:spPr>
        <p:txBody>
          <a:bodyPr wrap="square" lIns="0" tIns="0" rIns="0" bIns="0">
            <a:spAutoFit/>
          </a:bodyPr>
          <a:lstStyle>
            <a:lvl1pPr>
              <a:defRPr sz="2500" b="1" i="0">
                <a:solidFill>
                  <a:srgbClr val="184E99"/>
                </a:solidFill>
                <a:latin typeface="Verdana"/>
                <a:cs typeface="Verdana"/>
              </a:defRPr>
            </a:lvl1pPr>
          </a:lstStyle>
          <a:p>
            <a:endParaRPr/>
          </a:p>
        </p:txBody>
      </p:sp>
      <p:sp>
        <p:nvSpPr>
          <p:cNvPr id="3" name="Holder 3"/>
          <p:cNvSpPr>
            <a:spLocks noGrp="1"/>
          </p:cNvSpPr>
          <p:nvPr>
            <p:ph type="body" idx="1"/>
          </p:nvPr>
        </p:nvSpPr>
        <p:spPr>
          <a:xfrm>
            <a:off x="457200" y="1183005"/>
            <a:ext cx="822960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525C01F9-4B93-BA76-14AF-6EB11B003BC5}"/>
              </a:ext>
            </a:extLst>
          </p:cNvPr>
          <p:cNvSpPr txBox="1">
            <a:spLocks/>
          </p:cNvSpPr>
          <p:nvPr/>
        </p:nvSpPr>
        <p:spPr>
          <a:xfrm>
            <a:off x="2216467" y="1766570"/>
            <a:ext cx="4711065" cy="1610360"/>
          </a:xfrm>
          <a:prstGeom prst="rect">
            <a:avLst/>
          </a:prstGeom>
        </p:spPr>
        <p:txBody>
          <a:bodyPr vert="horz" wrap="square" lIns="0" tIns="12700" rIns="0" bIns="0" rtlCol="0">
            <a:spAutoFit/>
          </a:bodyPr>
          <a:lstStyle>
            <a:lvl1pPr>
              <a:defRPr sz="2500" b="1" i="0">
                <a:solidFill>
                  <a:srgbClr val="184E99"/>
                </a:solidFill>
                <a:latin typeface="Verdana"/>
                <a:ea typeface="+mj-ea"/>
                <a:cs typeface="Verdana"/>
              </a:defRPr>
            </a:lvl1pPr>
          </a:lstStyle>
          <a:p>
            <a:pPr algn="ctr">
              <a:spcBef>
                <a:spcPts val="100"/>
              </a:spcBef>
            </a:pPr>
            <a:r>
              <a:rPr lang="en-US" sz="5200" i="1" spc="-455" dirty="0">
                <a:solidFill>
                  <a:srgbClr val="21559E"/>
                </a:solidFill>
              </a:rPr>
              <a:t>RISC-</a:t>
            </a:r>
            <a:r>
              <a:rPr lang="en-US" sz="5200" i="1" spc="-50" dirty="0">
                <a:solidFill>
                  <a:srgbClr val="21559E"/>
                </a:solidFill>
              </a:rPr>
              <a:t>V</a:t>
            </a:r>
            <a:endParaRPr lang="en-US" sz="5200" dirty="0"/>
          </a:p>
          <a:p>
            <a:pPr algn="ctr"/>
            <a:r>
              <a:rPr lang="en-US" sz="5200" i="1" spc="-110" dirty="0">
                <a:solidFill>
                  <a:srgbClr val="21559E"/>
                </a:solidFill>
              </a:rPr>
              <a:t>Pipeline</a:t>
            </a:r>
            <a:r>
              <a:rPr lang="en-US" sz="5200" i="1" spc="-310" dirty="0">
                <a:solidFill>
                  <a:srgbClr val="21559E"/>
                </a:solidFill>
              </a:rPr>
              <a:t> </a:t>
            </a:r>
            <a:r>
              <a:rPr lang="en-US" sz="5200" i="1" spc="-75" dirty="0">
                <a:solidFill>
                  <a:srgbClr val="21559E"/>
                </a:solidFill>
              </a:rPr>
              <a:t>Core</a:t>
            </a:r>
            <a:endParaRPr lang="en-US" sz="5200" dirty="0"/>
          </a:p>
        </p:txBody>
      </p:sp>
      <p:pic>
        <p:nvPicPr>
          <p:cNvPr id="8" name="Image 1" descr="Ghulam Ishaq Khan Institute of Engineering Sciences and Technology -  Wikipedia">
            <a:extLst>
              <a:ext uri="{FF2B5EF4-FFF2-40B4-BE49-F238E27FC236}">
                <a16:creationId xmlns:a16="http://schemas.microsoft.com/office/drawing/2014/main" id="{E46D743F-CF64-DB3C-A8DE-8BB8FEEF6F83}"/>
              </a:ext>
            </a:extLst>
          </p:cNvPr>
          <p:cNvPicPr>
            <a:picLocks/>
          </p:cNvPicPr>
          <p:nvPr/>
        </p:nvPicPr>
        <p:blipFill>
          <a:blip r:embed="rId2" cstate="print"/>
          <a:stretch>
            <a:fillRect/>
          </a:stretch>
        </p:blipFill>
        <p:spPr>
          <a:xfrm>
            <a:off x="228600" y="133350"/>
            <a:ext cx="963295" cy="972185"/>
          </a:xfrm>
          <a:prstGeom prst="rect">
            <a:avLst/>
          </a:prstGeom>
        </p:spPr>
      </p:pic>
      <p:sp>
        <p:nvSpPr>
          <p:cNvPr id="9" name="object 3">
            <a:extLst>
              <a:ext uri="{FF2B5EF4-FFF2-40B4-BE49-F238E27FC236}">
                <a16:creationId xmlns:a16="http://schemas.microsoft.com/office/drawing/2014/main" id="{CE34BDE1-81D1-02C7-E9C8-E4DF1D85853F}"/>
              </a:ext>
            </a:extLst>
          </p:cNvPr>
          <p:cNvSpPr txBox="1">
            <a:spLocks/>
          </p:cNvSpPr>
          <p:nvPr/>
        </p:nvSpPr>
        <p:spPr>
          <a:xfrm>
            <a:off x="0" y="4095750"/>
            <a:ext cx="4711065" cy="289823"/>
          </a:xfrm>
          <a:prstGeom prst="rect">
            <a:avLst/>
          </a:prstGeom>
        </p:spPr>
        <p:txBody>
          <a:bodyPr vert="horz" wrap="square" lIns="0" tIns="12700" rIns="0" bIns="0" rtlCol="0">
            <a:spAutoFit/>
          </a:bodyPr>
          <a:lstStyle>
            <a:lvl1pPr>
              <a:defRPr sz="2500" b="1" i="0">
                <a:solidFill>
                  <a:srgbClr val="184E99"/>
                </a:solidFill>
                <a:latin typeface="Verdana"/>
                <a:ea typeface="+mj-ea"/>
                <a:cs typeface="Verdana"/>
              </a:defRPr>
            </a:lvl1pPr>
          </a:lstStyle>
          <a:p>
            <a:pPr algn="ctr">
              <a:spcBef>
                <a:spcPts val="100"/>
              </a:spcBef>
            </a:pPr>
            <a:r>
              <a:rPr lang="en-US" sz="1800" spc="-150" dirty="0">
                <a:solidFill>
                  <a:srgbClr val="21559E"/>
                </a:solidFill>
              </a:rPr>
              <a:t>Muhammad Qasim (2023488)</a:t>
            </a:r>
            <a:endParaRPr lang="en-US" sz="1800" spc="-150" dirty="0"/>
          </a:p>
        </p:txBody>
      </p:sp>
      <p:sp>
        <p:nvSpPr>
          <p:cNvPr id="10" name="object 3">
            <a:extLst>
              <a:ext uri="{FF2B5EF4-FFF2-40B4-BE49-F238E27FC236}">
                <a16:creationId xmlns:a16="http://schemas.microsoft.com/office/drawing/2014/main" id="{E2E8EDF9-B4B3-0AB5-427C-0BB83284A99D}"/>
              </a:ext>
            </a:extLst>
          </p:cNvPr>
          <p:cNvSpPr txBox="1">
            <a:spLocks/>
          </p:cNvSpPr>
          <p:nvPr/>
        </p:nvSpPr>
        <p:spPr>
          <a:xfrm>
            <a:off x="4432935" y="4095749"/>
            <a:ext cx="4711065" cy="289823"/>
          </a:xfrm>
          <a:prstGeom prst="rect">
            <a:avLst/>
          </a:prstGeom>
        </p:spPr>
        <p:txBody>
          <a:bodyPr vert="horz" wrap="square" lIns="0" tIns="12700" rIns="0" bIns="0" rtlCol="0">
            <a:spAutoFit/>
          </a:bodyPr>
          <a:lstStyle>
            <a:lvl1pPr>
              <a:defRPr sz="2500" b="1" i="0">
                <a:solidFill>
                  <a:srgbClr val="184E99"/>
                </a:solidFill>
                <a:latin typeface="Verdana"/>
                <a:ea typeface="+mj-ea"/>
                <a:cs typeface="Verdana"/>
              </a:defRPr>
            </a:lvl1pPr>
          </a:lstStyle>
          <a:p>
            <a:pPr algn="ctr">
              <a:spcBef>
                <a:spcPts val="100"/>
              </a:spcBef>
            </a:pPr>
            <a:r>
              <a:rPr lang="en-US" sz="1800" spc="-150" dirty="0">
                <a:solidFill>
                  <a:srgbClr val="21559E"/>
                </a:solidFill>
              </a:rPr>
              <a:t>Muhammad Hammad (2023420)</a:t>
            </a:r>
            <a:endParaRPr lang="en-US" sz="1800" spc="-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0793" y="1988012"/>
            <a:ext cx="3173095" cy="2382704"/>
          </a:xfrm>
          <a:prstGeom prst="rect">
            <a:avLst/>
          </a:prstGeom>
        </p:spPr>
        <p:txBody>
          <a:bodyPr vert="horz" wrap="square" lIns="0" tIns="12700" rIns="0" bIns="0" rtlCol="0">
            <a:spAutoFit/>
          </a:bodyPr>
          <a:lstStyle/>
          <a:p>
            <a:pPr marL="347980" indent="-335280">
              <a:lnSpc>
                <a:spcPct val="100000"/>
              </a:lnSpc>
              <a:spcBef>
                <a:spcPts val="100"/>
              </a:spcBef>
              <a:buChar char="●"/>
              <a:tabLst>
                <a:tab pos="347980" algn="l"/>
              </a:tabLst>
            </a:pPr>
            <a:r>
              <a:rPr lang="en-US" sz="1400" spc="-10" dirty="0">
                <a:solidFill>
                  <a:srgbClr val="FFFFFF"/>
                </a:solidFill>
                <a:latin typeface="Arial MT"/>
                <a:cs typeface="Arial MT"/>
              </a:rPr>
              <a:t>Single Cycle Processor</a:t>
            </a:r>
            <a:endParaRPr lang="en-US" sz="1400" dirty="0">
              <a:latin typeface="Arial MT"/>
              <a:cs typeface="Arial MT"/>
            </a:endParaRPr>
          </a:p>
          <a:p>
            <a:pPr marL="347980" indent="-335280">
              <a:buFontTx/>
              <a:buChar char="●"/>
              <a:tabLst>
                <a:tab pos="347980" algn="l"/>
              </a:tabLst>
            </a:pPr>
            <a:r>
              <a:rPr lang="en-US" sz="1400" spc="-10" dirty="0">
                <a:solidFill>
                  <a:srgbClr val="FFFFFF"/>
                </a:solidFill>
                <a:latin typeface="Arial MT"/>
                <a:cs typeface="Arial MT"/>
              </a:rPr>
              <a:t>Overview</a:t>
            </a:r>
            <a:endParaRPr lang="en-GB" sz="1400" dirty="0">
              <a:solidFill>
                <a:srgbClr val="FFFFFF"/>
              </a:solidFill>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35" dirty="0">
                <a:solidFill>
                  <a:srgbClr val="FFFFFF"/>
                </a:solidFill>
                <a:latin typeface="Arial MT"/>
                <a:cs typeface="Arial MT"/>
              </a:rPr>
              <a:t> </a:t>
            </a:r>
            <a:r>
              <a:rPr sz="1400" dirty="0">
                <a:solidFill>
                  <a:srgbClr val="FFFFFF"/>
                </a:solidFill>
                <a:latin typeface="Arial MT"/>
                <a:cs typeface="Arial MT"/>
              </a:rPr>
              <a:t>of</a:t>
            </a:r>
            <a:r>
              <a:rPr sz="1400" spc="-35" dirty="0">
                <a:solidFill>
                  <a:srgbClr val="FFFFFF"/>
                </a:solidFill>
                <a:latin typeface="Arial MT"/>
                <a:cs typeface="Arial MT"/>
              </a:rPr>
              <a:t> </a:t>
            </a:r>
            <a:r>
              <a:rPr sz="1400" dirty="0">
                <a:solidFill>
                  <a:srgbClr val="FFFFFF"/>
                </a:solidFill>
                <a:latin typeface="Arial MT"/>
                <a:cs typeface="Arial MT"/>
              </a:rPr>
              <a:t>Fetch</a:t>
            </a:r>
            <a:r>
              <a:rPr sz="1400" spc="-35" dirty="0">
                <a:solidFill>
                  <a:srgbClr val="FFFFFF"/>
                </a:solidFill>
                <a:latin typeface="Arial MT"/>
                <a:cs typeface="Arial MT"/>
              </a:rPr>
              <a:t> </a:t>
            </a:r>
            <a:r>
              <a:rPr sz="1400" spc="-10" dirty="0">
                <a:solidFill>
                  <a:srgbClr val="FFFFFF"/>
                </a:solidFill>
                <a:latin typeface="Arial MT"/>
                <a:cs typeface="Arial MT"/>
              </a:rPr>
              <a:t>Cycle</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40" dirty="0">
                <a:solidFill>
                  <a:srgbClr val="FFFFFF"/>
                </a:solidFill>
                <a:latin typeface="Arial MT"/>
                <a:cs typeface="Arial MT"/>
              </a:rPr>
              <a:t> </a:t>
            </a:r>
            <a:r>
              <a:rPr sz="1400" dirty="0">
                <a:solidFill>
                  <a:srgbClr val="FFFFFF"/>
                </a:solidFill>
                <a:latin typeface="Arial MT"/>
                <a:cs typeface="Arial MT"/>
              </a:rPr>
              <a:t>of</a:t>
            </a:r>
            <a:r>
              <a:rPr sz="1400" spc="-35" dirty="0">
                <a:solidFill>
                  <a:srgbClr val="FFFFFF"/>
                </a:solidFill>
                <a:latin typeface="Arial MT"/>
                <a:cs typeface="Arial MT"/>
              </a:rPr>
              <a:t> </a:t>
            </a:r>
            <a:r>
              <a:rPr sz="1400" dirty="0">
                <a:solidFill>
                  <a:srgbClr val="FFFFFF"/>
                </a:solidFill>
                <a:latin typeface="Arial MT"/>
                <a:cs typeface="Arial MT"/>
              </a:rPr>
              <a:t>Decode</a:t>
            </a:r>
            <a:r>
              <a:rPr sz="1400" spc="-35" dirty="0">
                <a:solidFill>
                  <a:srgbClr val="FFFFFF"/>
                </a:solidFill>
                <a:latin typeface="Arial MT"/>
                <a:cs typeface="Arial MT"/>
              </a:rPr>
              <a:t> </a:t>
            </a:r>
            <a:r>
              <a:rPr sz="1400" spc="-10" dirty="0">
                <a:solidFill>
                  <a:srgbClr val="FFFFFF"/>
                </a:solidFill>
                <a:latin typeface="Arial MT"/>
                <a:cs typeface="Arial MT"/>
              </a:rPr>
              <a:t>Cycle</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40" dirty="0">
                <a:solidFill>
                  <a:srgbClr val="FFFFFF"/>
                </a:solidFill>
                <a:latin typeface="Arial MT"/>
                <a:cs typeface="Arial MT"/>
              </a:rPr>
              <a:t> </a:t>
            </a:r>
            <a:r>
              <a:rPr sz="1400" dirty="0">
                <a:solidFill>
                  <a:srgbClr val="FFFFFF"/>
                </a:solidFill>
                <a:latin typeface="Arial MT"/>
                <a:cs typeface="Arial MT"/>
              </a:rPr>
              <a:t>of</a:t>
            </a:r>
            <a:r>
              <a:rPr sz="1400" spc="-40" dirty="0">
                <a:solidFill>
                  <a:srgbClr val="FFFFFF"/>
                </a:solidFill>
                <a:latin typeface="Arial MT"/>
                <a:cs typeface="Arial MT"/>
              </a:rPr>
              <a:t> </a:t>
            </a:r>
            <a:r>
              <a:rPr sz="1400" dirty="0">
                <a:solidFill>
                  <a:srgbClr val="FFFFFF"/>
                </a:solidFill>
                <a:latin typeface="Arial MT"/>
                <a:cs typeface="Arial MT"/>
              </a:rPr>
              <a:t>Execute</a:t>
            </a:r>
            <a:r>
              <a:rPr sz="1400" spc="-35" dirty="0">
                <a:solidFill>
                  <a:srgbClr val="FFFFFF"/>
                </a:solidFill>
                <a:latin typeface="Arial MT"/>
                <a:cs typeface="Arial MT"/>
              </a:rPr>
              <a:t> </a:t>
            </a:r>
            <a:r>
              <a:rPr sz="1400" spc="-10" dirty="0">
                <a:solidFill>
                  <a:srgbClr val="FFFFFF"/>
                </a:solidFill>
                <a:latin typeface="Arial MT"/>
                <a:cs typeface="Arial MT"/>
              </a:rPr>
              <a:t>Cycle</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30" dirty="0">
                <a:solidFill>
                  <a:srgbClr val="FFFFFF"/>
                </a:solidFill>
                <a:latin typeface="Arial MT"/>
                <a:cs typeface="Arial MT"/>
              </a:rPr>
              <a:t> </a:t>
            </a:r>
            <a:r>
              <a:rPr sz="1400" dirty="0">
                <a:solidFill>
                  <a:srgbClr val="FFFFFF"/>
                </a:solidFill>
                <a:latin typeface="Arial MT"/>
                <a:cs typeface="Arial MT"/>
              </a:rPr>
              <a:t>of</a:t>
            </a:r>
            <a:r>
              <a:rPr sz="1400" spc="-30" dirty="0">
                <a:solidFill>
                  <a:srgbClr val="FFFFFF"/>
                </a:solidFill>
                <a:latin typeface="Arial MT"/>
                <a:cs typeface="Arial MT"/>
              </a:rPr>
              <a:t> </a:t>
            </a:r>
            <a:r>
              <a:rPr sz="1400" dirty="0">
                <a:solidFill>
                  <a:srgbClr val="FFFFFF"/>
                </a:solidFill>
                <a:latin typeface="Arial MT"/>
                <a:cs typeface="Arial MT"/>
              </a:rPr>
              <a:t>Memory</a:t>
            </a:r>
            <a:r>
              <a:rPr sz="1400" spc="-25" dirty="0">
                <a:solidFill>
                  <a:srgbClr val="FFFFFF"/>
                </a:solidFill>
                <a:latin typeface="Arial MT"/>
                <a:cs typeface="Arial MT"/>
              </a:rPr>
              <a:t> </a:t>
            </a:r>
            <a:r>
              <a:rPr sz="1400" spc="-10" dirty="0">
                <a:solidFill>
                  <a:srgbClr val="FFFFFF"/>
                </a:solidFill>
                <a:latin typeface="Arial MT"/>
                <a:cs typeface="Arial MT"/>
              </a:rPr>
              <a:t>Cycle</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40" dirty="0">
                <a:solidFill>
                  <a:srgbClr val="FFFFFF"/>
                </a:solidFill>
                <a:latin typeface="Arial MT"/>
                <a:cs typeface="Arial MT"/>
              </a:rPr>
              <a:t> </a:t>
            </a:r>
            <a:r>
              <a:rPr sz="1400" dirty="0">
                <a:solidFill>
                  <a:srgbClr val="FFFFFF"/>
                </a:solidFill>
                <a:latin typeface="Arial MT"/>
                <a:cs typeface="Arial MT"/>
              </a:rPr>
              <a:t>of</a:t>
            </a:r>
            <a:r>
              <a:rPr sz="1400" spc="-35" dirty="0">
                <a:solidFill>
                  <a:srgbClr val="FFFFFF"/>
                </a:solidFill>
                <a:latin typeface="Arial MT"/>
                <a:cs typeface="Arial MT"/>
              </a:rPr>
              <a:t> </a:t>
            </a:r>
            <a:r>
              <a:rPr sz="1400" dirty="0">
                <a:solidFill>
                  <a:srgbClr val="FFFFFF"/>
                </a:solidFill>
                <a:latin typeface="Arial MT"/>
                <a:cs typeface="Arial MT"/>
              </a:rPr>
              <a:t>Write</a:t>
            </a:r>
            <a:r>
              <a:rPr sz="1400" spc="-40" dirty="0">
                <a:solidFill>
                  <a:srgbClr val="FFFFFF"/>
                </a:solidFill>
                <a:latin typeface="Arial MT"/>
                <a:cs typeface="Arial MT"/>
              </a:rPr>
              <a:t> </a:t>
            </a:r>
            <a:r>
              <a:rPr sz="1400" dirty="0">
                <a:solidFill>
                  <a:srgbClr val="FFFFFF"/>
                </a:solidFill>
                <a:latin typeface="Arial MT"/>
                <a:cs typeface="Arial MT"/>
              </a:rPr>
              <a:t>Back</a:t>
            </a:r>
            <a:r>
              <a:rPr sz="1400" spc="-35" dirty="0">
                <a:solidFill>
                  <a:srgbClr val="FFFFFF"/>
                </a:solidFill>
                <a:latin typeface="Arial MT"/>
                <a:cs typeface="Arial MT"/>
              </a:rPr>
              <a:t> </a:t>
            </a:r>
            <a:r>
              <a:rPr sz="1400" spc="-10" dirty="0">
                <a:solidFill>
                  <a:srgbClr val="FFFFFF"/>
                </a:solidFill>
                <a:latin typeface="Arial MT"/>
                <a:cs typeface="Arial MT"/>
              </a:rPr>
              <a:t>Cycle</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45" dirty="0">
                <a:solidFill>
                  <a:srgbClr val="FFFFFF"/>
                </a:solidFill>
                <a:latin typeface="Arial MT"/>
                <a:cs typeface="Arial MT"/>
              </a:rPr>
              <a:t> </a:t>
            </a:r>
            <a:r>
              <a:rPr sz="1400" dirty="0">
                <a:solidFill>
                  <a:srgbClr val="FFFFFF"/>
                </a:solidFill>
                <a:latin typeface="Arial MT"/>
                <a:cs typeface="Arial MT"/>
              </a:rPr>
              <a:t>of</a:t>
            </a:r>
            <a:r>
              <a:rPr sz="1400" spc="-40" dirty="0">
                <a:solidFill>
                  <a:srgbClr val="FFFFFF"/>
                </a:solidFill>
                <a:latin typeface="Arial MT"/>
                <a:cs typeface="Arial MT"/>
              </a:rPr>
              <a:t> </a:t>
            </a:r>
            <a:r>
              <a:rPr sz="1400" dirty="0">
                <a:solidFill>
                  <a:srgbClr val="FFFFFF"/>
                </a:solidFill>
                <a:latin typeface="Arial MT"/>
                <a:cs typeface="Arial MT"/>
              </a:rPr>
              <a:t>Pipeline</a:t>
            </a:r>
            <a:r>
              <a:rPr sz="1400" spc="-60" dirty="0">
                <a:solidFill>
                  <a:srgbClr val="FFFFFF"/>
                </a:solidFill>
                <a:latin typeface="Arial MT"/>
                <a:cs typeface="Arial MT"/>
              </a:rPr>
              <a:t> </a:t>
            </a:r>
            <a:r>
              <a:rPr sz="1400" spc="-25" dirty="0">
                <a:solidFill>
                  <a:srgbClr val="FFFFFF"/>
                </a:solidFill>
                <a:latin typeface="Arial MT"/>
                <a:cs typeface="Arial MT"/>
              </a:rPr>
              <a:t>Top</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Pipeline</a:t>
            </a:r>
            <a:r>
              <a:rPr sz="1400" spc="-40" dirty="0">
                <a:solidFill>
                  <a:srgbClr val="FFFFFF"/>
                </a:solidFill>
                <a:latin typeface="Arial MT"/>
                <a:cs typeface="Arial MT"/>
              </a:rPr>
              <a:t> </a:t>
            </a:r>
            <a:r>
              <a:rPr sz="1400" spc="-10" dirty="0">
                <a:solidFill>
                  <a:srgbClr val="FFFFFF"/>
                </a:solidFill>
                <a:latin typeface="Arial MT"/>
                <a:cs typeface="Arial MT"/>
              </a:rPr>
              <a:t>Hazards</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40" dirty="0">
                <a:solidFill>
                  <a:srgbClr val="FFFFFF"/>
                </a:solidFill>
                <a:latin typeface="Arial MT"/>
                <a:cs typeface="Arial MT"/>
              </a:rPr>
              <a:t> </a:t>
            </a:r>
            <a:r>
              <a:rPr sz="1400" dirty="0">
                <a:solidFill>
                  <a:srgbClr val="FFFFFF"/>
                </a:solidFill>
                <a:latin typeface="Arial MT"/>
                <a:cs typeface="Arial MT"/>
              </a:rPr>
              <a:t>of</a:t>
            </a:r>
            <a:r>
              <a:rPr sz="1400" spc="-35" dirty="0">
                <a:solidFill>
                  <a:srgbClr val="FFFFFF"/>
                </a:solidFill>
                <a:latin typeface="Arial MT"/>
                <a:cs typeface="Arial MT"/>
              </a:rPr>
              <a:t> </a:t>
            </a:r>
            <a:r>
              <a:rPr sz="1400" dirty="0">
                <a:solidFill>
                  <a:srgbClr val="FFFFFF"/>
                </a:solidFill>
                <a:latin typeface="Arial MT"/>
                <a:cs typeface="Arial MT"/>
              </a:rPr>
              <a:t>Hazard</a:t>
            </a:r>
            <a:r>
              <a:rPr sz="1400" spc="-35" dirty="0">
                <a:solidFill>
                  <a:srgbClr val="FFFFFF"/>
                </a:solidFill>
                <a:latin typeface="Arial MT"/>
                <a:cs typeface="Arial MT"/>
              </a:rPr>
              <a:t> </a:t>
            </a:r>
            <a:r>
              <a:rPr sz="1400" spc="-20" dirty="0">
                <a:solidFill>
                  <a:srgbClr val="FFFFFF"/>
                </a:solidFill>
                <a:latin typeface="Arial MT"/>
                <a:cs typeface="Arial MT"/>
              </a:rPr>
              <a:t>Unit</a:t>
            </a:r>
            <a:endParaRPr sz="1400" dirty="0">
              <a:latin typeface="Arial MT"/>
              <a:cs typeface="Arial MT"/>
            </a:endParaRPr>
          </a:p>
          <a:p>
            <a:pPr marL="347980" indent="-335280">
              <a:lnSpc>
                <a:spcPct val="100000"/>
              </a:lnSpc>
              <a:buChar char="●"/>
              <a:tabLst>
                <a:tab pos="347980" algn="l"/>
              </a:tabLst>
            </a:pPr>
            <a:r>
              <a:rPr sz="1400" dirty="0">
                <a:solidFill>
                  <a:srgbClr val="FFFFFF"/>
                </a:solidFill>
                <a:latin typeface="Arial MT"/>
                <a:cs typeface="Arial MT"/>
              </a:rPr>
              <a:t>Implementation</a:t>
            </a:r>
            <a:r>
              <a:rPr sz="1400" spc="-45" dirty="0">
                <a:solidFill>
                  <a:srgbClr val="FFFFFF"/>
                </a:solidFill>
                <a:latin typeface="Arial MT"/>
                <a:cs typeface="Arial MT"/>
              </a:rPr>
              <a:t> </a:t>
            </a:r>
            <a:r>
              <a:rPr sz="1400" dirty="0">
                <a:solidFill>
                  <a:srgbClr val="FFFFFF"/>
                </a:solidFill>
                <a:latin typeface="Arial MT"/>
                <a:cs typeface="Arial MT"/>
              </a:rPr>
              <a:t>of</a:t>
            </a:r>
            <a:r>
              <a:rPr sz="1400" spc="-45" dirty="0">
                <a:solidFill>
                  <a:srgbClr val="FFFFFF"/>
                </a:solidFill>
                <a:latin typeface="Arial MT"/>
                <a:cs typeface="Arial MT"/>
              </a:rPr>
              <a:t> </a:t>
            </a:r>
            <a:r>
              <a:rPr sz="1400" dirty="0">
                <a:solidFill>
                  <a:srgbClr val="FFFFFF"/>
                </a:solidFill>
                <a:latin typeface="Arial MT"/>
                <a:cs typeface="Arial MT"/>
              </a:rPr>
              <a:t>Pipeline</a:t>
            </a:r>
            <a:r>
              <a:rPr sz="1400" spc="-65" dirty="0">
                <a:solidFill>
                  <a:srgbClr val="FFFFFF"/>
                </a:solidFill>
                <a:latin typeface="Arial MT"/>
                <a:cs typeface="Arial MT"/>
              </a:rPr>
              <a:t> </a:t>
            </a:r>
            <a:r>
              <a:rPr sz="1400" spc="-40" dirty="0">
                <a:solidFill>
                  <a:srgbClr val="FFFFFF"/>
                </a:solidFill>
                <a:latin typeface="Arial MT"/>
                <a:cs typeface="Arial MT"/>
              </a:rPr>
              <a:t>Top </a:t>
            </a:r>
            <a:r>
              <a:rPr sz="1400" spc="-25" dirty="0">
                <a:solidFill>
                  <a:srgbClr val="FFFFFF"/>
                </a:solidFill>
                <a:latin typeface="Arial MT"/>
                <a:cs typeface="Arial MT"/>
              </a:rPr>
              <a:t>II</a:t>
            </a:r>
            <a:endParaRPr sz="14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949785"/>
            <a:ext cx="5263515" cy="1243930"/>
          </a:xfrm>
          <a:prstGeom prst="rect">
            <a:avLst/>
          </a:prstGeom>
        </p:spPr>
        <p:txBody>
          <a:bodyPr vert="horz" wrap="square" lIns="0" tIns="12700" rIns="0" bIns="0" rtlCol="0">
            <a:spAutoFit/>
          </a:bodyPr>
          <a:lstStyle/>
          <a:p>
            <a:pPr marL="12700" marR="5080" algn="ctr">
              <a:lnSpc>
                <a:spcPct val="100000"/>
              </a:lnSpc>
              <a:spcBef>
                <a:spcPts val="100"/>
              </a:spcBef>
            </a:pPr>
            <a:r>
              <a:rPr lang="en-GB" sz="4000" spc="-130" dirty="0"/>
              <a:t>Single Cycle Processor</a:t>
            </a:r>
            <a:endParaRPr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F01A2-DFF0-6C80-58C3-4F4D7D5D9D8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F5F0DA2-756E-2DAA-6D01-B2B6E0AFAF23}"/>
              </a:ext>
            </a:extLst>
          </p:cNvPr>
          <p:cNvSpPr txBox="1">
            <a:spLocks noGrp="1"/>
          </p:cNvSpPr>
          <p:nvPr>
            <p:ph type="title"/>
          </p:nvPr>
        </p:nvSpPr>
        <p:spPr>
          <a:xfrm>
            <a:off x="3448981" y="209550"/>
            <a:ext cx="2246038" cy="400110"/>
          </a:xfrm>
          <a:prstGeom prst="rect">
            <a:avLst/>
          </a:prstGeom>
        </p:spPr>
        <p:txBody>
          <a:bodyPr vert="horz" wrap="square" lIns="0" tIns="15240" rIns="0" bIns="0" rtlCol="0">
            <a:spAutoFit/>
          </a:bodyPr>
          <a:lstStyle/>
          <a:p>
            <a:pPr marL="12700">
              <a:lnSpc>
                <a:spcPct val="100000"/>
              </a:lnSpc>
              <a:spcBef>
                <a:spcPts val="120"/>
              </a:spcBef>
            </a:pPr>
            <a:r>
              <a:rPr lang="en-GB" spc="-30" dirty="0"/>
              <a:t>Single Cycle</a:t>
            </a:r>
            <a:endParaRPr spc="-30" dirty="0"/>
          </a:p>
        </p:txBody>
      </p:sp>
      <p:sp>
        <p:nvSpPr>
          <p:cNvPr id="3" name="object 3">
            <a:extLst>
              <a:ext uri="{FF2B5EF4-FFF2-40B4-BE49-F238E27FC236}">
                <a16:creationId xmlns:a16="http://schemas.microsoft.com/office/drawing/2014/main" id="{4D490D69-D22D-B8A7-1E25-76CB96A65A7E}"/>
              </a:ext>
            </a:extLst>
          </p:cNvPr>
          <p:cNvSpPr txBox="1"/>
          <p:nvPr/>
        </p:nvSpPr>
        <p:spPr>
          <a:xfrm>
            <a:off x="356225" y="1622554"/>
            <a:ext cx="2815675" cy="1153201"/>
          </a:xfrm>
          <a:prstGeom prst="rect">
            <a:avLst/>
          </a:prstGeom>
        </p:spPr>
        <p:txBody>
          <a:bodyPr vert="horz" wrap="square" lIns="0" tIns="3175" rIns="0" bIns="0" rtlCol="0">
            <a:spAutoFit/>
          </a:bodyPr>
          <a:lstStyle/>
          <a:p>
            <a:pPr marL="12700" marR="5080">
              <a:lnSpc>
                <a:spcPct val="105000"/>
              </a:lnSpc>
              <a:spcBef>
                <a:spcPts val="25"/>
              </a:spcBef>
            </a:pPr>
            <a:r>
              <a:rPr lang="en-GB" sz="1200" dirty="0">
                <a:latin typeface="Arial MT"/>
                <a:cs typeface="Arial MT"/>
              </a:rPr>
              <a:t>A single-cycle processor executes one instruction per clock cycle. All stages of instruction execution occur in the same cycle. Simpler control logic than pipelined processors but slower clock frequency due to long critical path.</a:t>
            </a:r>
          </a:p>
        </p:txBody>
      </p:sp>
      <p:sp>
        <p:nvSpPr>
          <p:cNvPr id="7" name="object 2">
            <a:extLst>
              <a:ext uri="{FF2B5EF4-FFF2-40B4-BE49-F238E27FC236}">
                <a16:creationId xmlns:a16="http://schemas.microsoft.com/office/drawing/2014/main" id="{3F945321-357E-6994-37BD-8F4F381567EC}"/>
              </a:ext>
            </a:extLst>
          </p:cNvPr>
          <p:cNvSpPr txBox="1">
            <a:spLocks/>
          </p:cNvSpPr>
          <p:nvPr/>
        </p:nvSpPr>
        <p:spPr>
          <a:xfrm>
            <a:off x="356225" y="1123950"/>
            <a:ext cx="2246038" cy="400110"/>
          </a:xfrm>
          <a:prstGeom prst="rect">
            <a:avLst/>
          </a:prstGeom>
        </p:spPr>
        <p:txBody>
          <a:bodyPr vert="horz" wrap="square" lIns="0" tIns="15240" rIns="0" bIns="0" rtlCol="0">
            <a:spAutoFit/>
          </a:bodyPr>
          <a:lstStyle>
            <a:lvl1pPr>
              <a:defRPr sz="2500" b="1" i="0">
                <a:solidFill>
                  <a:srgbClr val="184E99"/>
                </a:solidFill>
                <a:latin typeface="Verdana"/>
                <a:ea typeface="+mj-ea"/>
                <a:cs typeface="Verdana"/>
              </a:defRPr>
            </a:lvl1pPr>
          </a:lstStyle>
          <a:p>
            <a:pPr marL="12700">
              <a:spcBef>
                <a:spcPts val="120"/>
              </a:spcBef>
            </a:pPr>
            <a:r>
              <a:rPr lang="en-GB" spc="-30" dirty="0"/>
              <a:t>Definition</a:t>
            </a:r>
          </a:p>
        </p:txBody>
      </p:sp>
      <p:sp>
        <p:nvSpPr>
          <p:cNvPr id="8" name="object 3">
            <a:extLst>
              <a:ext uri="{FF2B5EF4-FFF2-40B4-BE49-F238E27FC236}">
                <a16:creationId xmlns:a16="http://schemas.microsoft.com/office/drawing/2014/main" id="{90E17C0A-AA60-76A8-2DCB-086E58323331}"/>
              </a:ext>
            </a:extLst>
          </p:cNvPr>
          <p:cNvSpPr txBox="1"/>
          <p:nvPr/>
        </p:nvSpPr>
        <p:spPr>
          <a:xfrm>
            <a:off x="5181600" y="1622553"/>
            <a:ext cx="2815675" cy="2316596"/>
          </a:xfrm>
          <a:prstGeom prst="rect">
            <a:avLst/>
          </a:prstGeom>
        </p:spPr>
        <p:txBody>
          <a:bodyPr vert="horz" wrap="square" lIns="0" tIns="3175" rIns="0" bIns="0" rtlCol="0">
            <a:spAutoFit/>
          </a:bodyPr>
          <a:lstStyle/>
          <a:p>
            <a:pPr marL="12700" marR="5080">
              <a:lnSpc>
                <a:spcPct val="105000"/>
              </a:lnSpc>
              <a:spcBef>
                <a:spcPts val="25"/>
              </a:spcBef>
            </a:pPr>
            <a:r>
              <a:rPr lang="en-GB" sz="1200" b="1" dirty="0">
                <a:latin typeface="Arial MT"/>
                <a:cs typeface="Arial MT"/>
              </a:rPr>
              <a:t>Program Counter (PC):</a:t>
            </a:r>
            <a:r>
              <a:rPr lang="en-GB" sz="1200" dirty="0">
                <a:latin typeface="Arial MT"/>
                <a:cs typeface="Arial MT"/>
              </a:rPr>
              <a:t> Holds address of next instruction.</a:t>
            </a:r>
          </a:p>
          <a:p>
            <a:pPr marL="12700" marR="5080">
              <a:lnSpc>
                <a:spcPct val="105000"/>
              </a:lnSpc>
              <a:spcBef>
                <a:spcPts val="25"/>
              </a:spcBef>
            </a:pPr>
            <a:r>
              <a:rPr lang="en-GB" sz="1200" b="1" dirty="0">
                <a:latin typeface="Arial MT"/>
                <a:cs typeface="Arial MT"/>
              </a:rPr>
              <a:t>Instruction Memory:</a:t>
            </a:r>
            <a:r>
              <a:rPr lang="en-GB" sz="1200" dirty="0">
                <a:latin typeface="Arial MT"/>
                <a:cs typeface="Arial MT"/>
              </a:rPr>
              <a:t> Holds the program; accessed using PC.</a:t>
            </a:r>
          </a:p>
          <a:p>
            <a:pPr marL="12700" marR="5080">
              <a:lnSpc>
                <a:spcPct val="105000"/>
              </a:lnSpc>
              <a:spcBef>
                <a:spcPts val="25"/>
              </a:spcBef>
            </a:pPr>
            <a:r>
              <a:rPr lang="en-GB" sz="1200" b="1" dirty="0">
                <a:latin typeface="Arial MT"/>
                <a:cs typeface="Arial MT"/>
              </a:rPr>
              <a:t>Register File:</a:t>
            </a:r>
            <a:r>
              <a:rPr lang="en-GB" sz="1200" dirty="0">
                <a:latin typeface="Arial MT"/>
                <a:cs typeface="Arial MT"/>
              </a:rPr>
              <a:t> 32 registers for general-purpose storage.</a:t>
            </a:r>
          </a:p>
          <a:p>
            <a:pPr marL="12700" marR="5080">
              <a:lnSpc>
                <a:spcPct val="105000"/>
              </a:lnSpc>
              <a:spcBef>
                <a:spcPts val="25"/>
              </a:spcBef>
            </a:pPr>
            <a:r>
              <a:rPr lang="en-GB" sz="1200" b="1" dirty="0">
                <a:latin typeface="Arial MT"/>
                <a:cs typeface="Arial MT"/>
              </a:rPr>
              <a:t>ALU:</a:t>
            </a:r>
            <a:r>
              <a:rPr lang="en-GB" sz="1200" dirty="0">
                <a:latin typeface="Arial MT"/>
                <a:cs typeface="Arial MT"/>
              </a:rPr>
              <a:t> Performs arithmetic/logical operations.</a:t>
            </a:r>
          </a:p>
          <a:p>
            <a:pPr marL="12700" marR="5080">
              <a:lnSpc>
                <a:spcPct val="105000"/>
              </a:lnSpc>
              <a:spcBef>
                <a:spcPts val="25"/>
              </a:spcBef>
            </a:pPr>
            <a:r>
              <a:rPr lang="en-GB" sz="1200" b="1" dirty="0">
                <a:latin typeface="Arial MT"/>
                <a:cs typeface="Arial MT"/>
              </a:rPr>
              <a:t>Data Memory:</a:t>
            </a:r>
            <a:r>
              <a:rPr lang="en-GB" sz="1200" dirty="0">
                <a:latin typeface="Arial MT"/>
                <a:cs typeface="Arial MT"/>
              </a:rPr>
              <a:t> Stores variables for load/store instructions.</a:t>
            </a:r>
          </a:p>
          <a:p>
            <a:pPr marL="12700" marR="5080">
              <a:lnSpc>
                <a:spcPct val="105000"/>
              </a:lnSpc>
              <a:spcBef>
                <a:spcPts val="25"/>
              </a:spcBef>
            </a:pPr>
            <a:r>
              <a:rPr lang="en-GB" sz="1200" b="1" dirty="0">
                <a:latin typeface="Arial MT"/>
                <a:cs typeface="Arial MT"/>
              </a:rPr>
              <a:t>Control Unit:</a:t>
            </a:r>
            <a:r>
              <a:rPr lang="en-GB" sz="1200" dirty="0">
                <a:latin typeface="Arial MT"/>
                <a:cs typeface="Arial MT"/>
              </a:rPr>
              <a:t> Generates control signals based on opcode.</a:t>
            </a:r>
          </a:p>
        </p:txBody>
      </p:sp>
      <p:sp>
        <p:nvSpPr>
          <p:cNvPr id="9" name="object 2">
            <a:extLst>
              <a:ext uri="{FF2B5EF4-FFF2-40B4-BE49-F238E27FC236}">
                <a16:creationId xmlns:a16="http://schemas.microsoft.com/office/drawing/2014/main" id="{5E47A678-481A-4BDB-3BA9-3F84F677056C}"/>
              </a:ext>
            </a:extLst>
          </p:cNvPr>
          <p:cNvSpPr txBox="1">
            <a:spLocks/>
          </p:cNvSpPr>
          <p:nvPr/>
        </p:nvSpPr>
        <p:spPr>
          <a:xfrm>
            <a:off x="5181600" y="1123950"/>
            <a:ext cx="2246038" cy="400110"/>
          </a:xfrm>
          <a:prstGeom prst="rect">
            <a:avLst/>
          </a:prstGeom>
        </p:spPr>
        <p:txBody>
          <a:bodyPr vert="horz" wrap="square" lIns="0" tIns="15240" rIns="0" bIns="0" rtlCol="0">
            <a:spAutoFit/>
          </a:bodyPr>
          <a:lstStyle>
            <a:lvl1pPr>
              <a:defRPr sz="2500" b="1" i="0">
                <a:solidFill>
                  <a:srgbClr val="184E99"/>
                </a:solidFill>
                <a:latin typeface="Verdana"/>
                <a:ea typeface="+mj-ea"/>
                <a:cs typeface="Verdana"/>
              </a:defRPr>
            </a:lvl1pPr>
          </a:lstStyle>
          <a:p>
            <a:pPr marL="12700">
              <a:spcBef>
                <a:spcPts val="120"/>
              </a:spcBef>
            </a:pPr>
            <a:r>
              <a:rPr lang="en-GB" spc="-30" dirty="0"/>
              <a:t>Components</a:t>
            </a:r>
          </a:p>
        </p:txBody>
      </p:sp>
    </p:spTree>
    <p:extLst>
      <p:ext uri="{BB962C8B-B14F-4D97-AF65-F5344CB8AC3E}">
        <p14:creationId xmlns:p14="http://schemas.microsoft.com/office/powerpoint/2010/main" val="25571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490AC-3433-9447-1064-FE08C5F0B2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5380F55-3CFB-9E1C-7ADE-1F303BE23970}"/>
              </a:ext>
            </a:extLst>
          </p:cNvPr>
          <p:cNvSpPr txBox="1">
            <a:spLocks noGrp="1"/>
          </p:cNvSpPr>
          <p:nvPr>
            <p:ph type="title"/>
          </p:nvPr>
        </p:nvSpPr>
        <p:spPr>
          <a:xfrm>
            <a:off x="2953681" y="209550"/>
            <a:ext cx="3236637" cy="400110"/>
          </a:xfrm>
          <a:prstGeom prst="rect">
            <a:avLst/>
          </a:prstGeom>
        </p:spPr>
        <p:txBody>
          <a:bodyPr vert="horz" wrap="square" lIns="0" tIns="15240" rIns="0" bIns="0" rtlCol="0">
            <a:spAutoFit/>
          </a:bodyPr>
          <a:lstStyle/>
          <a:p>
            <a:pPr marL="12700">
              <a:lnSpc>
                <a:spcPct val="100000"/>
              </a:lnSpc>
              <a:spcBef>
                <a:spcPts val="120"/>
              </a:spcBef>
            </a:pPr>
            <a:r>
              <a:rPr lang="en-GB" spc="-30" dirty="0"/>
              <a:t>Single Cycle Flow</a:t>
            </a:r>
            <a:endParaRPr spc="-30" dirty="0"/>
          </a:p>
        </p:txBody>
      </p:sp>
      <p:pic>
        <p:nvPicPr>
          <p:cNvPr id="5" name="Picture 4" descr="A diagram of instruction flow&#10;&#10;AI-generated content may be incorrect.">
            <a:extLst>
              <a:ext uri="{FF2B5EF4-FFF2-40B4-BE49-F238E27FC236}">
                <a16:creationId xmlns:a16="http://schemas.microsoft.com/office/drawing/2014/main" id="{24C1A8ED-A7E3-0BCA-A1AB-80883B5FD4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38425" y="638175"/>
            <a:ext cx="3867150" cy="3867150"/>
          </a:xfrm>
          <a:prstGeom prst="rect">
            <a:avLst/>
          </a:prstGeom>
        </p:spPr>
      </p:pic>
    </p:spTree>
    <p:extLst>
      <p:ext uri="{BB962C8B-B14F-4D97-AF65-F5344CB8AC3E}">
        <p14:creationId xmlns:p14="http://schemas.microsoft.com/office/powerpoint/2010/main" val="327126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FE7C-B7AB-CC09-2E97-9ADDE5EC05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963B9D8-BA81-275A-BAC4-A13A80583B10}"/>
              </a:ext>
            </a:extLst>
          </p:cNvPr>
          <p:cNvSpPr txBox="1">
            <a:spLocks noGrp="1"/>
          </p:cNvSpPr>
          <p:nvPr>
            <p:ph type="title"/>
          </p:nvPr>
        </p:nvSpPr>
        <p:spPr>
          <a:xfrm>
            <a:off x="239325" y="1521355"/>
            <a:ext cx="5263515" cy="1854200"/>
          </a:xfrm>
          <a:prstGeom prst="rect">
            <a:avLst/>
          </a:prstGeom>
        </p:spPr>
        <p:txBody>
          <a:bodyPr vert="horz" wrap="square" lIns="0" tIns="12700" rIns="0" bIns="0" rtlCol="0">
            <a:spAutoFit/>
          </a:bodyPr>
          <a:lstStyle/>
          <a:p>
            <a:pPr marL="12700" marR="5080" algn="ctr">
              <a:lnSpc>
                <a:spcPct val="100000"/>
              </a:lnSpc>
              <a:spcBef>
                <a:spcPts val="100"/>
              </a:spcBef>
            </a:pPr>
            <a:r>
              <a:rPr sz="4000" spc="-130" dirty="0"/>
              <a:t>Overview</a:t>
            </a:r>
            <a:r>
              <a:rPr sz="4000" spc="-215" dirty="0"/>
              <a:t> </a:t>
            </a:r>
            <a:r>
              <a:rPr sz="4000" spc="-50" dirty="0"/>
              <a:t>of</a:t>
            </a:r>
            <a:r>
              <a:rPr sz="4000" spc="-215" dirty="0"/>
              <a:t> </a:t>
            </a:r>
            <a:r>
              <a:rPr sz="4000" spc="-350" dirty="0"/>
              <a:t>RISC-</a:t>
            </a:r>
            <a:r>
              <a:rPr sz="4000" spc="-50" dirty="0"/>
              <a:t>V </a:t>
            </a:r>
            <a:r>
              <a:rPr sz="4000" spc="-10" dirty="0"/>
              <a:t>Pipeline Architecture</a:t>
            </a:r>
            <a:endParaRPr sz="4000"/>
          </a:p>
        </p:txBody>
      </p:sp>
    </p:spTree>
    <p:extLst>
      <p:ext uri="{BB962C8B-B14F-4D97-AF65-F5344CB8AC3E}">
        <p14:creationId xmlns:p14="http://schemas.microsoft.com/office/powerpoint/2010/main" val="3638925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0784-1EDC-63DD-BD80-294F12CECD5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D071096-A5CC-61B3-5238-3AF887E88080}"/>
              </a:ext>
            </a:extLst>
          </p:cNvPr>
          <p:cNvSpPr txBox="1">
            <a:spLocks noGrp="1"/>
          </p:cNvSpPr>
          <p:nvPr>
            <p:ph type="title"/>
          </p:nvPr>
        </p:nvSpPr>
        <p:spPr>
          <a:xfrm>
            <a:off x="384725" y="864673"/>
            <a:ext cx="1763395" cy="409575"/>
          </a:xfrm>
          <a:prstGeom prst="rect">
            <a:avLst/>
          </a:prstGeom>
        </p:spPr>
        <p:txBody>
          <a:bodyPr vert="horz" wrap="square" lIns="0" tIns="15240" rIns="0" bIns="0" rtlCol="0">
            <a:spAutoFit/>
          </a:bodyPr>
          <a:lstStyle/>
          <a:p>
            <a:pPr marL="12700">
              <a:lnSpc>
                <a:spcPct val="100000"/>
              </a:lnSpc>
              <a:spcBef>
                <a:spcPts val="120"/>
              </a:spcBef>
            </a:pPr>
            <a:r>
              <a:rPr spc="-30" dirty="0"/>
              <a:t>Pipelining</a:t>
            </a:r>
          </a:p>
        </p:txBody>
      </p:sp>
      <p:sp>
        <p:nvSpPr>
          <p:cNvPr id="3" name="object 3">
            <a:extLst>
              <a:ext uri="{FF2B5EF4-FFF2-40B4-BE49-F238E27FC236}">
                <a16:creationId xmlns:a16="http://schemas.microsoft.com/office/drawing/2014/main" id="{38A4448F-950E-B118-EB5E-3C776A7390B7}"/>
              </a:ext>
            </a:extLst>
          </p:cNvPr>
          <p:cNvSpPr txBox="1"/>
          <p:nvPr/>
        </p:nvSpPr>
        <p:spPr>
          <a:xfrm>
            <a:off x="356225" y="1622554"/>
            <a:ext cx="3494404" cy="1168400"/>
          </a:xfrm>
          <a:prstGeom prst="rect">
            <a:avLst/>
          </a:prstGeom>
        </p:spPr>
        <p:txBody>
          <a:bodyPr vert="horz" wrap="square" lIns="0" tIns="3175" rIns="0" bIns="0" rtlCol="0">
            <a:spAutoFit/>
          </a:bodyPr>
          <a:lstStyle/>
          <a:p>
            <a:pPr marL="12700" marR="5080">
              <a:lnSpc>
                <a:spcPct val="105000"/>
              </a:lnSpc>
              <a:spcBef>
                <a:spcPts val="25"/>
              </a:spcBef>
            </a:pPr>
            <a:r>
              <a:rPr sz="1200" dirty="0">
                <a:latin typeface="Arial MT"/>
                <a:cs typeface="Arial MT"/>
              </a:rPr>
              <a:t>We</a:t>
            </a:r>
            <a:r>
              <a:rPr sz="1200" spc="-30" dirty="0">
                <a:latin typeface="Arial MT"/>
                <a:cs typeface="Arial MT"/>
              </a:rPr>
              <a:t> </a:t>
            </a:r>
            <a:r>
              <a:rPr sz="1200" dirty="0">
                <a:latin typeface="Arial MT"/>
                <a:cs typeface="Arial MT"/>
              </a:rPr>
              <a:t>design</a:t>
            </a:r>
            <a:r>
              <a:rPr sz="1200" spc="-25" dirty="0">
                <a:latin typeface="Arial MT"/>
                <a:cs typeface="Arial MT"/>
              </a:rPr>
              <a:t> </a:t>
            </a:r>
            <a:r>
              <a:rPr sz="1200" dirty="0">
                <a:latin typeface="Arial MT"/>
                <a:cs typeface="Arial MT"/>
              </a:rPr>
              <a:t>a</a:t>
            </a:r>
            <a:r>
              <a:rPr sz="1200" spc="-25" dirty="0">
                <a:latin typeface="Arial MT"/>
                <a:cs typeface="Arial MT"/>
              </a:rPr>
              <a:t> </a:t>
            </a:r>
            <a:r>
              <a:rPr sz="1200" dirty="0">
                <a:latin typeface="Arial MT"/>
                <a:cs typeface="Arial MT"/>
              </a:rPr>
              <a:t>pipelined</a:t>
            </a:r>
            <a:r>
              <a:rPr sz="1200" spc="-30" dirty="0">
                <a:latin typeface="Arial MT"/>
                <a:cs typeface="Arial MT"/>
              </a:rPr>
              <a:t> </a:t>
            </a:r>
            <a:r>
              <a:rPr sz="1200" dirty="0">
                <a:latin typeface="Arial MT"/>
                <a:cs typeface="Arial MT"/>
              </a:rPr>
              <a:t>processor</a:t>
            </a:r>
            <a:r>
              <a:rPr sz="1200" spc="-25" dirty="0">
                <a:latin typeface="Arial MT"/>
                <a:cs typeface="Arial MT"/>
              </a:rPr>
              <a:t> </a:t>
            </a:r>
            <a:r>
              <a:rPr sz="1200" dirty="0">
                <a:latin typeface="Arial MT"/>
                <a:cs typeface="Arial MT"/>
              </a:rPr>
              <a:t>by</a:t>
            </a:r>
            <a:r>
              <a:rPr sz="1200" spc="-25" dirty="0">
                <a:latin typeface="Arial MT"/>
                <a:cs typeface="Arial MT"/>
              </a:rPr>
              <a:t> </a:t>
            </a:r>
            <a:r>
              <a:rPr sz="1200" dirty="0">
                <a:latin typeface="Arial MT"/>
                <a:cs typeface="Arial MT"/>
              </a:rPr>
              <a:t>subdividing</a:t>
            </a:r>
            <a:r>
              <a:rPr sz="1200" spc="-30" dirty="0">
                <a:latin typeface="Arial MT"/>
                <a:cs typeface="Arial MT"/>
              </a:rPr>
              <a:t> </a:t>
            </a:r>
            <a:r>
              <a:rPr sz="1200" spc="-25" dirty="0">
                <a:latin typeface="Arial MT"/>
                <a:cs typeface="Arial MT"/>
              </a:rPr>
              <a:t>the </a:t>
            </a:r>
            <a:r>
              <a:rPr sz="1200" spc="-10" dirty="0">
                <a:latin typeface="Arial MT"/>
                <a:cs typeface="Arial MT"/>
              </a:rPr>
              <a:t>single-</a:t>
            </a:r>
            <a:r>
              <a:rPr sz="1200" dirty="0">
                <a:latin typeface="Arial MT"/>
                <a:cs typeface="Arial MT"/>
              </a:rPr>
              <a:t>cycle</a:t>
            </a:r>
            <a:r>
              <a:rPr sz="1200" spc="-15" dirty="0">
                <a:latin typeface="Arial MT"/>
                <a:cs typeface="Arial MT"/>
              </a:rPr>
              <a:t> </a:t>
            </a:r>
            <a:r>
              <a:rPr sz="1200" dirty="0">
                <a:latin typeface="Arial MT"/>
                <a:cs typeface="Arial MT"/>
              </a:rPr>
              <a:t>processor</a:t>
            </a:r>
            <a:r>
              <a:rPr sz="1200" spc="-15" dirty="0">
                <a:latin typeface="Arial MT"/>
                <a:cs typeface="Arial MT"/>
              </a:rPr>
              <a:t> </a:t>
            </a:r>
            <a:r>
              <a:rPr sz="1200" dirty="0">
                <a:latin typeface="Arial MT"/>
                <a:cs typeface="Arial MT"/>
              </a:rPr>
              <a:t>into</a:t>
            </a:r>
            <a:r>
              <a:rPr sz="1200" spc="-15" dirty="0">
                <a:latin typeface="Arial MT"/>
                <a:cs typeface="Arial MT"/>
              </a:rPr>
              <a:t> </a:t>
            </a:r>
            <a:r>
              <a:rPr sz="1200" dirty="0">
                <a:latin typeface="Arial MT"/>
                <a:cs typeface="Arial MT"/>
              </a:rPr>
              <a:t>five</a:t>
            </a:r>
            <a:r>
              <a:rPr sz="1200" spc="-15" dirty="0">
                <a:latin typeface="Arial MT"/>
                <a:cs typeface="Arial MT"/>
              </a:rPr>
              <a:t> </a:t>
            </a:r>
            <a:r>
              <a:rPr sz="1200" dirty="0">
                <a:latin typeface="Arial MT"/>
                <a:cs typeface="Arial MT"/>
              </a:rPr>
              <a:t>pipeline</a:t>
            </a:r>
            <a:r>
              <a:rPr sz="1200" spc="-15" dirty="0">
                <a:latin typeface="Arial MT"/>
                <a:cs typeface="Arial MT"/>
              </a:rPr>
              <a:t> </a:t>
            </a:r>
            <a:r>
              <a:rPr sz="1200" spc="-10" dirty="0">
                <a:latin typeface="Arial MT"/>
                <a:cs typeface="Arial MT"/>
              </a:rPr>
              <a:t>stages.</a:t>
            </a:r>
            <a:endParaRPr sz="1200">
              <a:latin typeface="Arial MT"/>
              <a:cs typeface="Arial MT"/>
            </a:endParaRPr>
          </a:p>
          <a:p>
            <a:pPr marL="12700" marR="55880">
              <a:lnSpc>
                <a:spcPct val="105000"/>
              </a:lnSpc>
            </a:pPr>
            <a:r>
              <a:rPr sz="1200" dirty="0">
                <a:latin typeface="Arial MT"/>
                <a:cs typeface="Arial MT"/>
              </a:rPr>
              <a:t>Thus,</a:t>
            </a:r>
            <a:r>
              <a:rPr sz="1200" spc="-20" dirty="0">
                <a:latin typeface="Arial MT"/>
                <a:cs typeface="Arial MT"/>
              </a:rPr>
              <a:t> </a:t>
            </a:r>
            <a:r>
              <a:rPr sz="1200" dirty="0">
                <a:latin typeface="Arial MT"/>
                <a:cs typeface="Arial MT"/>
              </a:rPr>
              <a:t>five</a:t>
            </a:r>
            <a:r>
              <a:rPr sz="1200" spc="-20" dirty="0">
                <a:latin typeface="Arial MT"/>
                <a:cs typeface="Arial MT"/>
              </a:rPr>
              <a:t> </a:t>
            </a:r>
            <a:r>
              <a:rPr sz="1200" dirty="0">
                <a:latin typeface="Arial MT"/>
                <a:cs typeface="Arial MT"/>
              </a:rPr>
              <a:t>instructions</a:t>
            </a:r>
            <a:r>
              <a:rPr sz="1200" spc="-20" dirty="0">
                <a:latin typeface="Arial MT"/>
                <a:cs typeface="Arial MT"/>
              </a:rPr>
              <a:t> </a:t>
            </a:r>
            <a:r>
              <a:rPr sz="1200" dirty="0">
                <a:latin typeface="Arial MT"/>
                <a:cs typeface="Arial MT"/>
              </a:rPr>
              <a:t>can</a:t>
            </a:r>
            <a:r>
              <a:rPr sz="1200" spc="-20" dirty="0">
                <a:latin typeface="Arial MT"/>
                <a:cs typeface="Arial MT"/>
              </a:rPr>
              <a:t> </a:t>
            </a:r>
            <a:r>
              <a:rPr sz="1200" dirty="0">
                <a:latin typeface="Arial MT"/>
                <a:cs typeface="Arial MT"/>
              </a:rPr>
              <a:t>execute</a:t>
            </a:r>
            <a:r>
              <a:rPr sz="1200" spc="-20" dirty="0">
                <a:latin typeface="Arial MT"/>
                <a:cs typeface="Arial MT"/>
              </a:rPr>
              <a:t> </a:t>
            </a:r>
            <a:r>
              <a:rPr sz="1200" spc="-10" dirty="0">
                <a:latin typeface="Arial MT"/>
                <a:cs typeface="Arial MT"/>
              </a:rPr>
              <a:t>simultaneously, </a:t>
            </a:r>
            <a:r>
              <a:rPr sz="1200" dirty="0">
                <a:latin typeface="Arial MT"/>
                <a:cs typeface="Arial MT"/>
              </a:rPr>
              <a:t>one</a:t>
            </a:r>
            <a:r>
              <a:rPr sz="1200" spc="-30" dirty="0">
                <a:latin typeface="Arial MT"/>
                <a:cs typeface="Arial MT"/>
              </a:rPr>
              <a:t> </a:t>
            </a:r>
            <a:r>
              <a:rPr sz="1200" dirty="0">
                <a:latin typeface="Arial MT"/>
                <a:cs typeface="Arial MT"/>
              </a:rPr>
              <a:t>in</a:t>
            </a:r>
            <a:r>
              <a:rPr sz="1200" spc="-20" dirty="0">
                <a:latin typeface="Arial MT"/>
                <a:cs typeface="Arial MT"/>
              </a:rPr>
              <a:t> </a:t>
            </a:r>
            <a:r>
              <a:rPr sz="1200" dirty="0">
                <a:latin typeface="Arial MT"/>
                <a:cs typeface="Arial MT"/>
              </a:rPr>
              <a:t>each</a:t>
            </a:r>
            <a:r>
              <a:rPr sz="1200" spc="-20" dirty="0">
                <a:latin typeface="Arial MT"/>
                <a:cs typeface="Arial MT"/>
              </a:rPr>
              <a:t> </a:t>
            </a:r>
            <a:r>
              <a:rPr sz="1200" dirty="0">
                <a:latin typeface="Arial MT"/>
                <a:cs typeface="Arial MT"/>
              </a:rPr>
              <a:t>stage.</a:t>
            </a:r>
            <a:r>
              <a:rPr sz="1200" spc="-20" dirty="0">
                <a:latin typeface="Arial MT"/>
                <a:cs typeface="Arial MT"/>
              </a:rPr>
              <a:t> </a:t>
            </a:r>
            <a:r>
              <a:rPr sz="1200" dirty="0">
                <a:latin typeface="Arial MT"/>
                <a:cs typeface="Arial MT"/>
              </a:rPr>
              <a:t>Because</a:t>
            </a:r>
            <a:r>
              <a:rPr sz="1200" spc="-20" dirty="0">
                <a:latin typeface="Arial MT"/>
                <a:cs typeface="Arial MT"/>
              </a:rPr>
              <a:t> </a:t>
            </a:r>
            <a:r>
              <a:rPr sz="1200" dirty="0">
                <a:latin typeface="Arial MT"/>
                <a:cs typeface="Arial MT"/>
              </a:rPr>
              <a:t>each</a:t>
            </a:r>
            <a:r>
              <a:rPr sz="1200" spc="-20" dirty="0">
                <a:latin typeface="Arial MT"/>
                <a:cs typeface="Arial MT"/>
              </a:rPr>
              <a:t> </a:t>
            </a:r>
            <a:r>
              <a:rPr sz="1200" dirty="0">
                <a:latin typeface="Arial MT"/>
                <a:cs typeface="Arial MT"/>
              </a:rPr>
              <a:t>stage</a:t>
            </a:r>
            <a:r>
              <a:rPr sz="1200" spc="-20" dirty="0">
                <a:latin typeface="Arial MT"/>
                <a:cs typeface="Arial MT"/>
              </a:rPr>
              <a:t> </a:t>
            </a:r>
            <a:r>
              <a:rPr sz="1200" dirty="0">
                <a:latin typeface="Arial MT"/>
                <a:cs typeface="Arial MT"/>
              </a:rPr>
              <a:t>has</a:t>
            </a:r>
            <a:r>
              <a:rPr sz="1200" spc="-20" dirty="0">
                <a:latin typeface="Arial MT"/>
                <a:cs typeface="Arial MT"/>
              </a:rPr>
              <a:t> only </a:t>
            </a:r>
            <a:r>
              <a:rPr sz="1200" spc="-10" dirty="0">
                <a:latin typeface="Arial MT"/>
                <a:cs typeface="Arial MT"/>
              </a:rPr>
              <a:t>one-</a:t>
            </a:r>
            <a:r>
              <a:rPr sz="1200" dirty="0">
                <a:latin typeface="Arial MT"/>
                <a:cs typeface="Arial MT"/>
              </a:rPr>
              <a:t>fifth</a:t>
            </a:r>
            <a:r>
              <a:rPr sz="1200" spc="-25" dirty="0">
                <a:latin typeface="Arial MT"/>
                <a:cs typeface="Arial MT"/>
              </a:rPr>
              <a:t> </a:t>
            </a:r>
            <a:r>
              <a:rPr sz="1200" dirty="0">
                <a:latin typeface="Arial MT"/>
                <a:cs typeface="Arial MT"/>
              </a:rPr>
              <a:t>of</a:t>
            </a:r>
            <a:r>
              <a:rPr sz="1200" spc="-15" dirty="0">
                <a:latin typeface="Arial MT"/>
                <a:cs typeface="Arial MT"/>
              </a:rPr>
              <a:t> </a:t>
            </a:r>
            <a:r>
              <a:rPr sz="1200" dirty="0">
                <a:latin typeface="Arial MT"/>
                <a:cs typeface="Arial MT"/>
              </a:rPr>
              <a:t>the</a:t>
            </a:r>
            <a:r>
              <a:rPr sz="1200" spc="-15" dirty="0">
                <a:latin typeface="Arial MT"/>
                <a:cs typeface="Arial MT"/>
              </a:rPr>
              <a:t> </a:t>
            </a:r>
            <a:r>
              <a:rPr sz="1200" dirty="0">
                <a:latin typeface="Arial MT"/>
                <a:cs typeface="Arial MT"/>
              </a:rPr>
              <a:t>entire</a:t>
            </a:r>
            <a:r>
              <a:rPr sz="1200" spc="-15" dirty="0">
                <a:latin typeface="Arial MT"/>
                <a:cs typeface="Arial MT"/>
              </a:rPr>
              <a:t> </a:t>
            </a:r>
            <a:r>
              <a:rPr sz="1200" dirty="0">
                <a:latin typeface="Arial MT"/>
                <a:cs typeface="Arial MT"/>
              </a:rPr>
              <a:t>logic,</a:t>
            </a:r>
            <a:r>
              <a:rPr sz="1200" spc="-15" dirty="0">
                <a:latin typeface="Arial MT"/>
                <a:cs typeface="Arial MT"/>
              </a:rPr>
              <a:t> </a:t>
            </a:r>
            <a:r>
              <a:rPr sz="1200" dirty="0">
                <a:latin typeface="Arial MT"/>
                <a:cs typeface="Arial MT"/>
              </a:rPr>
              <a:t>the</a:t>
            </a:r>
            <a:r>
              <a:rPr sz="1200" spc="-15" dirty="0">
                <a:latin typeface="Arial MT"/>
                <a:cs typeface="Arial MT"/>
              </a:rPr>
              <a:t> </a:t>
            </a:r>
            <a:r>
              <a:rPr sz="1200" dirty="0">
                <a:latin typeface="Arial MT"/>
                <a:cs typeface="Arial MT"/>
              </a:rPr>
              <a:t>clock</a:t>
            </a:r>
            <a:r>
              <a:rPr sz="1200" spc="-15" dirty="0">
                <a:latin typeface="Arial MT"/>
                <a:cs typeface="Arial MT"/>
              </a:rPr>
              <a:t> </a:t>
            </a:r>
            <a:r>
              <a:rPr sz="1200" dirty="0">
                <a:latin typeface="Arial MT"/>
                <a:cs typeface="Arial MT"/>
              </a:rPr>
              <a:t>frequency</a:t>
            </a:r>
            <a:r>
              <a:rPr sz="1200" spc="-10" dirty="0">
                <a:latin typeface="Arial MT"/>
                <a:cs typeface="Arial MT"/>
              </a:rPr>
              <a:t> </a:t>
            </a:r>
            <a:r>
              <a:rPr sz="1200" spc="-35" dirty="0">
                <a:latin typeface="Arial MT"/>
                <a:cs typeface="Arial MT"/>
              </a:rPr>
              <a:t>is </a:t>
            </a:r>
            <a:r>
              <a:rPr sz="1200" dirty="0">
                <a:latin typeface="Arial MT"/>
                <a:cs typeface="Arial MT"/>
              </a:rPr>
              <a:t>approximately</a:t>
            </a:r>
            <a:r>
              <a:rPr sz="1200" spc="-10" dirty="0">
                <a:latin typeface="Arial MT"/>
                <a:cs typeface="Arial MT"/>
              </a:rPr>
              <a:t> </a:t>
            </a:r>
            <a:r>
              <a:rPr sz="1200" dirty="0">
                <a:latin typeface="Arial MT"/>
                <a:cs typeface="Arial MT"/>
              </a:rPr>
              <a:t>five</a:t>
            </a:r>
            <a:r>
              <a:rPr sz="1200" spc="-10" dirty="0">
                <a:latin typeface="Arial MT"/>
                <a:cs typeface="Arial MT"/>
              </a:rPr>
              <a:t> </a:t>
            </a:r>
            <a:r>
              <a:rPr sz="1200" dirty="0">
                <a:latin typeface="Arial MT"/>
                <a:cs typeface="Arial MT"/>
              </a:rPr>
              <a:t>times</a:t>
            </a:r>
            <a:r>
              <a:rPr sz="1200" spc="-10" dirty="0">
                <a:latin typeface="Arial MT"/>
                <a:cs typeface="Arial MT"/>
              </a:rPr>
              <a:t> faster.</a:t>
            </a:r>
            <a:endParaRPr sz="1200">
              <a:latin typeface="Arial MT"/>
              <a:cs typeface="Arial MT"/>
            </a:endParaRPr>
          </a:p>
        </p:txBody>
      </p:sp>
      <p:pic>
        <p:nvPicPr>
          <p:cNvPr id="4" name="object 4">
            <a:extLst>
              <a:ext uri="{FF2B5EF4-FFF2-40B4-BE49-F238E27FC236}">
                <a16:creationId xmlns:a16="http://schemas.microsoft.com/office/drawing/2014/main" id="{6ABBD38E-E8D5-8239-C553-DEBDDE38C36B}"/>
              </a:ext>
            </a:extLst>
          </p:cNvPr>
          <p:cNvPicPr/>
          <p:nvPr/>
        </p:nvPicPr>
        <p:blipFill>
          <a:blip r:embed="rId2" cstate="print"/>
          <a:stretch>
            <a:fillRect/>
          </a:stretch>
        </p:blipFill>
        <p:spPr>
          <a:xfrm>
            <a:off x="4072625" y="1555625"/>
            <a:ext cx="4995849" cy="2813024"/>
          </a:xfrm>
          <a:prstGeom prst="rect">
            <a:avLst/>
          </a:prstGeom>
        </p:spPr>
      </p:pic>
    </p:spTree>
    <p:extLst>
      <p:ext uri="{BB962C8B-B14F-4D97-AF65-F5344CB8AC3E}">
        <p14:creationId xmlns:p14="http://schemas.microsoft.com/office/powerpoint/2010/main" val="2225371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xfrm>
            <a:off x="1248705" y="60223"/>
            <a:ext cx="6142695" cy="400110"/>
          </a:xfrm>
          <a:prstGeom prst="rect">
            <a:avLst/>
          </a:prstGeom>
        </p:spPr>
        <p:txBody>
          <a:bodyPr vert="horz" wrap="square" lIns="0" tIns="15240" rIns="0" bIns="0" rtlCol="0">
            <a:spAutoFit/>
          </a:bodyPr>
          <a:lstStyle/>
          <a:p>
            <a:pPr marL="12700">
              <a:lnSpc>
                <a:spcPct val="100000"/>
              </a:lnSpc>
              <a:spcBef>
                <a:spcPts val="120"/>
              </a:spcBef>
            </a:pPr>
            <a:r>
              <a:rPr lang="en-GB" spc="-30" dirty="0"/>
              <a:t>Single Cycle Vs. </a:t>
            </a:r>
            <a:r>
              <a:rPr spc="-30" dirty="0"/>
              <a:t>Pipelining</a:t>
            </a:r>
          </a:p>
        </p:txBody>
      </p:sp>
      <p:pic>
        <p:nvPicPr>
          <p:cNvPr id="4" name="object 4"/>
          <p:cNvPicPr/>
          <p:nvPr/>
        </p:nvPicPr>
        <p:blipFill>
          <a:blip r:embed="rId3" cstate="print"/>
          <a:stretch>
            <a:fillRect/>
          </a:stretch>
        </p:blipFill>
        <p:spPr>
          <a:xfrm>
            <a:off x="1614926" y="469798"/>
            <a:ext cx="5914148" cy="42027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xfrm>
            <a:off x="384725" y="483673"/>
            <a:ext cx="3108325" cy="409575"/>
          </a:xfrm>
          <a:prstGeom prst="rect">
            <a:avLst/>
          </a:prstGeom>
        </p:spPr>
        <p:txBody>
          <a:bodyPr vert="horz" wrap="square" lIns="0" tIns="15240" rIns="0" bIns="0" rtlCol="0">
            <a:spAutoFit/>
          </a:bodyPr>
          <a:lstStyle/>
          <a:p>
            <a:pPr marL="12700">
              <a:lnSpc>
                <a:spcPct val="100000"/>
              </a:lnSpc>
              <a:spcBef>
                <a:spcPts val="120"/>
              </a:spcBef>
            </a:pPr>
            <a:r>
              <a:rPr spc="-35" dirty="0"/>
              <a:t>Pipeline</a:t>
            </a:r>
            <a:r>
              <a:rPr spc="-170" dirty="0"/>
              <a:t> </a:t>
            </a:r>
            <a:r>
              <a:rPr spc="-70" dirty="0"/>
              <a:t>D</a:t>
            </a:r>
            <a:r>
              <a:rPr lang="en-GB" spc="-70" dirty="0"/>
              <a:t>a</a:t>
            </a:r>
            <a:r>
              <a:rPr spc="-70" dirty="0"/>
              <a:t>t</a:t>
            </a:r>
            <a:r>
              <a:rPr lang="en-GB" spc="-70" dirty="0"/>
              <a:t>a</a:t>
            </a:r>
            <a:r>
              <a:rPr spc="-70" dirty="0"/>
              <a:t>p</a:t>
            </a:r>
            <a:r>
              <a:rPr lang="en-GB" spc="-70" dirty="0"/>
              <a:t>a</a:t>
            </a:r>
            <a:r>
              <a:rPr spc="-70" dirty="0" err="1"/>
              <a:t>th</a:t>
            </a:r>
            <a:endParaRPr spc="-70" dirty="0"/>
          </a:p>
        </p:txBody>
      </p:sp>
      <p:pic>
        <p:nvPicPr>
          <p:cNvPr id="4" name="object 4"/>
          <p:cNvPicPr/>
          <p:nvPr/>
        </p:nvPicPr>
        <p:blipFill>
          <a:blip r:embed="rId3" cstate="print"/>
          <a:stretch>
            <a:fillRect/>
          </a:stretch>
        </p:blipFill>
        <p:spPr>
          <a:xfrm>
            <a:off x="629161" y="996150"/>
            <a:ext cx="7885676" cy="40322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65" y="1843254"/>
            <a:ext cx="5097780" cy="1244600"/>
          </a:xfrm>
          <a:prstGeom prst="rect">
            <a:avLst/>
          </a:prstGeom>
        </p:spPr>
        <p:txBody>
          <a:bodyPr vert="horz" wrap="square" lIns="0" tIns="12700" rIns="0" bIns="0" rtlCol="0">
            <a:spAutoFit/>
          </a:bodyPr>
          <a:lstStyle/>
          <a:p>
            <a:pPr marL="975994" marR="5080" indent="-963930">
              <a:lnSpc>
                <a:spcPct val="100000"/>
              </a:lnSpc>
              <a:spcBef>
                <a:spcPts val="100"/>
              </a:spcBef>
            </a:pPr>
            <a:r>
              <a:rPr sz="4000" spc="-160" dirty="0"/>
              <a:t>Implementntion</a:t>
            </a:r>
            <a:r>
              <a:rPr sz="4000" spc="-114" dirty="0"/>
              <a:t> </a:t>
            </a:r>
            <a:r>
              <a:rPr sz="4000" spc="-25" dirty="0"/>
              <a:t>of </a:t>
            </a:r>
            <a:r>
              <a:rPr sz="4000" spc="-60" dirty="0"/>
              <a:t>Fetch</a:t>
            </a:r>
            <a:r>
              <a:rPr sz="4000" spc="-250" dirty="0"/>
              <a:t> </a:t>
            </a:r>
            <a:r>
              <a:rPr sz="4000" spc="-10" dirty="0"/>
              <a:t>Cycle</a:t>
            </a:r>
            <a:endParaRPr sz="4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60" dirty="0"/>
              <a:t>Abstr</a:t>
            </a:r>
            <a:r>
              <a:rPr lang="en-US" spc="-60" dirty="0"/>
              <a:t>a</a:t>
            </a:r>
            <a:r>
              <a:rPr spc="-60" dirty="0"/>
              <a:t>ct</a:t>
            </a:r>
            <a:r>
              <a:rPr spc="-155" dirty="0"/>
              <a:t> </a:t>
            </a:r>
            <a:r>
              <a:rPr spc="-25" dirty="0"/>
              <a:t>View</a:t>
            </a:r>
            <a:r>
              <a:rPr spc="-170" dirty="0"/>
              <a:t> </a:t>
            </a:r>
            <a:r>
              <a:rPr dirty="0"/>
              <a:t>of</a:t>
            </a:r>
            <a:r>
              <a:rPr spc="-160" dirty="0"/>
              <a:t> </a:t>
            </a:r>
            <a:r>
              <a:rPr spc="-20" dirty="0"/>
              <a:t>Pipelining</a:t>
            </a:r>
          </a:p>
        </p:txBody>
      </p:sp>
      <p:pic>
        <p:nvPicPr>
          <p:cNvPr id="4" name="object 4"/>
          <p:cNvPicPr/>
          <p:nvPr/>
        </p:nvPicPr>
        <p:blipFill>
          <a:blip r:embed="rId3" cstate="print"/>
          <a:stretch>
            <a:fillRect/>
          </a:stretch>
        </p:blipFill>
        <p:spPr>
          <a:xfrm>
            <a:off x="545416" y="1170124"/>
            <a:ext cx="8053165" cy="33406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83673"/>
            <a:ext cx="3696335" cy="409575"/>
          </a:xfrm>
          <a:prstGeom prst="rect">
            <a:avLst/>
          </a:prstGeom>
        </p:spPr>
        <p:txBody>
          <a:bodyPr vert="horz" wrap="square" lIns="0" tIns="15240" rIns="0" bIns="0" rtlCol="0">
            <a:spAutoFit/>
          </a:bodyPr>
          <a:lstStyle/>
          <a:p>
            <a:pPr marL="12700">
              <a:lnSpc>
                <a:spcPct val="100000"/>
              </a:lnSpc>
              <a:spcBef>
                <a:spcPts val="120"/>
              </a:spcBef>
            </a:pPr>
            <a:r>
              <a:rPr spc="-20" dirty="0"/>
              <a:t>Fetch</a:t>
            </a:r>
            <a:r>
              <a:rPr spc="-175" dirty="0"/>
              <a:t> </a:t>
            </a:r>
            <a:r>
              <a:rPr spc="-20" dirty="0"/>
              <a:t>Cycle</a:t>
            </a:r>
            <a:r>
              <a:rPr spc="-175" dirty="0"/>
              <a:t> </a:t>
            </a:r>
            <a:r>
              <a:rPr spc="-70" dirty="0"/>
              <a:t>D</a:t>
            </a:r>
            <a:r>
              <a:rPr lang="en-GB" spc="-70" dirty="0"/>
              <a:t>a</a:t>
            </a:r>
            <a:r>
              <a:rPr spc="-70" dirty="0"/>
              <a:t>t</a:t>
            </a:r>
            <a:r>
              <a:rPr lang="en-GB" spc="-70" dirty="0"/>
              <a:t>a</a:t>
            </a:r>
            <a:r>
              <a:rPr spc="-70" dirty="0"/>
              <a:t>p</a:t>
            </a:r>
            <a:r>
              <a:rPr lang="en-GB" spc="-70" dirty="0"/>
              <a:t>a</a:t>
            </a:r>
            <a:r>
              <a:rPr spc="-70" dirty="0" err="1"/>
              <a:t>th</a:t>
            </a:r>
            <a:endParaRPr spc="-70" dirty="0"/>
          </a:p>
        </p:txBody>
      </p:sp>
      <p:pic>
        <p:nvPicPr>
          <p:cNvPr id="3" name="object 3"/>
          <p:cNvPicPr/>
          <p:nvPr/>
        </p:nvPicPr>
        <p:blipFill>
          <a:blip r:embed="rId2" cstate="print"/>
          <a:stretch>
            <a:fillRect/>
          </a:stretch>
        </p:blipFill>
        <p:spPr>
          <a:xfrm>
            <a:off x="4701425" y="423449"/>
            <a:ext cx="2295375" cy="4591549"/>
          </a:xfrm>
          <a:prstGeom prst="rect">
            <a:avLst/>
          </a:prstGeom>
        </p:spPr>
      </p:pic>
      <p:sp>
        <p:nvSpPr>
          <p:cNvPr id="4" name="object 4"/>
          <p:cNvSpPr txBox="1"/>
          <p:nvPr/>
        </p:nvSpPr>
        <p:spPr>
          <a:xfrm>
            <a:off x="448400" y="1447687"/>
            <a:ext cx="203962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Modules</a:t>
            </a:r>
            <a:r>
              <a:rPr sz="1400" spc="-10" dirty="0">
                <a:latin typeface="Arial MT"/>
                <a:cs typeface="Arial MT"/>
              </a:rPr>
              <a:t> </a:t>
            </a:r>
            <a:r>
              <a:rPr sz="1400" dirty="0">
                <a:latin typeface="Arial MT"/>
                <a:cs typeface="Arial MT"/>
              </a:rPr>
              <a:t>to</a:t>
            </a:r>
            <a:r>
              <a:rPr sz="1400" spc="-10" dirty="0">
                <a:latin typeface="Arial MT"/>
                <a:cs typeface="Arial MT"/>
              </a:rPr>
              <a:t> </a:t>
            </a:r>
            <a:r>
              <a:rPr sz="1400" dirty="0">
                <a:latin typeface="Arial MT"/>
                <a:cs typeface="Arial MT"/>
              </a:rPr>
              <a:t>be</a:t>
            </a:r>
            <a:r>
              <a:rPr sz="1400" spc="-5" dirty="0">
                <a:latin typeface="Arial MT"/>
                <a:cs typeface="Arial MT"/>
              </a:rPr>
              <a:t> </a:t>
            </a:r>
            <a:r>
              <a:rPr sz="1400" spc="-10" dirty="0">
                <a:latin typeface="Arial MT"/>
                <a:cs typeface="Arial MT"/>
              </a:rPr>
              <a:t>Integrated:</a:t>
            </a:r>
            <a:endParaRPr sz="1400">
              <a:latin typeface="Arial MT"/>
              <a:cs typeface="Arial MT"/>
            </a:endParaRPr>
          </a:p>
        </p:txBody>
      </p:sp>
      <p:sp>
        <p:nvSpPr>
          <p:cNvPr id="5" name="object 5"/>
          <p:cNvSpPr txBox="1"/>
          <p:nvPr/>
        </p:nvSpPr>
        <p:spPr>
          <a:xfrm>
            <a:off x="518995" y="1661047"/>
            <a:ext cx="2171065" cy="1092200"/>
          </a:xfrm>
          <a:prstGeom prst="rect">
            <a:avLst/>
          </a:prstGeom>
        </p:spPr>
        <p:txBody>
          <a:bodyPr vert="horz" wrap="square" lIns="0" tIns="12700" rIns="0" bIns="0" rtlCol="0">
            <a:spAutoFit/>
          </a:bodyPr>
          <a:lstStyle/>
          <a:p>
            <a:pPr marL="398780" indent="-386080">
              <a:lnSpc>
                <a:spcPct val="100000"/>
              </a:lnSpc>
              <a:spcBef>
                <a:spcPts val="100"/>
              </a:spcBef>
              <a:buAutoNum type="arabicParenR"/>
              <a:tabLst>
                <a:tab pos="398780" algn="l"/>
              </a:tabLst>
            </a:pPr>
            <a:r>
              <a:rPr sz="1400" dirty="0">
                <a:latin typeface="Arial MT"/>
                <a:cs typeface="Arial MT"/>
              </a:rPr>
              <a:t>PC</a:t>
            </a:r>
            <a:r>
              <a:rPr sz="1400" spc="-30" dirty="0">
                <a:latin typeface="Arial MT"/>
                <a:cs typeface="Arial MT"/>
              </a:rPr>
              <a:t> </a:t>
            </a:r>
            <a:r>
              <a:rPr sz="1400" spc="-25" dirty="0">
                <a:latin typeface="Arial MT"/>
                <a:cs typeface="Arial MT"/>
              </a:rPr>
              <a:t>Mux</a:t>
            </a:r>
            <a:endParaRPr sz="1400">
              <a:latin typeface="Arial MT"/>
              <a:cs typeface="Arial MT"/>
            </a:endParaRPr>
          </a:p>
          <a:p>
            <a:pPr marL="398780" indent="-386080">
              <a:lnSpc>
                <a:spcPct val="100000"/>
              </a:lnSpc>
              <a:buAutoNum type="arabicParenR"/>
              <a:tabLst>
                <a:tab pos="398780" algn="l"/>
              </a:tabLst>
            </a:pPr>
            <a:r>
              <a:rPr sz="1400" dirty="0">
                <a:latin typeface="Arial MT"/>
                <a:cs typeface="Arial MT"/>
              </a:rPr>
              <a:t>Program</a:t>
            </a:r>
            <a:r>
              <a:rPr sz="1400" spc="-5" dirty="0">
                <a:latin typeface="Arial MT"/>
                <a:cs typeface="Arial MT"/>
              </a:rPr>
              <a:t> </a:t>
            </a:r>
            <a:r>
              <a:rPr sz="1400" spc="-10" dirty="0">
                <a:latin typeface="Arial MT"/>
                <a:cs typeface="Arial MT"/>
              </a:rPr>
              <a:t>Counter</a:t>
            </a:r>
            <a:endParaRPr sz="1400">
              <a:latin typeface="Arial MT"/>
              <a:cs typeface="Arial MT"/>
            </a:endParaRPr>
          </a:p>
          <a:p>
            <a:pPr marL="398780" indent="-386080">
              <a:lnSpc>
                <a:spcPct val="100000"/>
              </a:lnSpc>
              <a:buAutoNum type="arabicParenR"/>
              <a:tabLst>
                <a:tab pos="398780" algn="l"/>
              </a:tabLst>
            </a:pPr>
            <a:r>
              <a:rPr sz="1400" spc="-10" dirty="0">
                <a:latin typeface="Arial MT"/>
                <a:cs typeface="Arial MT"/>
              </a:rPr>
              <a:t>Adder</a:t>
            </a:r>
            <a:endParaRPr sz="1400">
              <a:latin typeface="Arial MT"/>
              <a:cs typeface="Arial MT"/>
            </a:endParaRPr>
          </a:p>
          <a:p>
            <a:pPr marL="398780" indent="-386080">
              <a:lnSpc>
                <a:spcPct val="100000"/>
              </a:lnSpc>
              <a:buAutoNum type="arabicParenR"/>
              <a:tabLst>
                <a:tab pos="398780" algn="l"/>
              </a:tabLst>
            </a:pPr>
            <a:r>
              <a:rPr sz="1400" dirty="0">
                <a:latin typeface="Arial MT"/>
                <a:cs typeface="Arial MT"/>
              </a:rPr>
              <a:t>Instruction</a:t>
            </a:r>
            <a:r>
              <a:rPr sz="1400" spc="-55" dirty="0">
                <a:latin typeface="Arial MT"/>
                <a:cs typeface="Arial MT"/>
              </a:rPr>
              <a:t> </a:t>
            </a:r>
            <a:r>
              <a:rPr sz="1400" spc="-10" dirty="0">
                <a:latin typeface="Arial MT"/>
                <a:cs typeface="Arial MT"/>
              </a:rPr>
              <a:t>Memory</a:t>
            </a:r>
            <a:endParaRPr sz="1400">
              <a:latin typeface="Arial MT"/>
              <a:cs typeface="Arial MT"/>
            </a:endParaRPr>
          </a:p>
          <a:p>
            <a:pPr marL="398780" indent="-386080">
              <a:lnSpc>
                <a:spcPct val="100000"/>
              </a:lnSpc>
              <a:buAutoNum type="arabicParenR"/>
              <a:tabLst>
                <a:tab pos="398780" algn="l"/>
              </a:tabLst>
            </a:pPr>
            <a:r>
              <a:rPr sz="1400" dirty="0">
                <a:latin typeface="Arial MT"/>
                <a:cs typeface="Arial MT"/>
              </a:rPr>
              <a:t>Fetch</a:t>
            </a:r>
            <a:r>
              <a:rPr sz="1400" spc="-25" dirty="0">
                <a:latin typeface="Arial MT"/>
                <a:cs typeface="Arial MT"/>
              </a:rPr>
              <a:t> </a:t>
            </a:r>
            <a:r>
              <a:rPr sz="1400" dirty="0">
                <a:latin typeface="Arial MT"/>
                <a:cs typeface="Arial MT"/>
              </a:rPr>
              <a:t>Stage</a:t>
            </a:r>
            <a:r>
              <a:rPr sz="1400" spc="-25" dirty="0">
                <a:latin typeface="Arial MT"/>
                <a:cs typeface="Arial MT"/>
              </a:rPr>
              <a:t> </a:t>
            </a:r>
            <a:r>
              <a:rPr sz="1400" spc="-10" dirty="0">
                <a:latin typeface="Arial MT"/>
                <a:cs typeface="Arial MT"/>
              </a:rPr>
              <a:t>Registers</a:t>
            </a:r>
            <a:endParaRPr sz="1400">
              <a:latin typeface="Arial MT"/>
              <a:cs typeface="Arial MT"/>
            </a:endParaRPr>
          </a:p>
        </p:txBody>
      </p:sp>
      <p:sp>
        <p:nvSpPr>
          <p:cNvPr id="6" name="object 6"/>
          <p:cNvSpPr txBox="1"/>
          <p:nvPr/>
        </p:nvSpPr>
        <p:spPr>
          <a:xfrm>
            <a:off x="7092625" y="2498820"/>
            <a:ext cx="385445" cy="177800"/>
          </a:xfrm>
          <a:prstGeom prst="rect">
            <a:avLst/>
          </a:prstGeom>
        </p:spPr>
        <p:txBody>
          <a:bodyPr vert="horz" wrap="square" lIns="0" tIns="12700" rIns="0" bIns="0" rtlCol="0">
            <a:spAutoFit/>
          </a:bodyPr>
          <a:lstStyle/>
          <a:p>
            <a:pPr marL="12700">
              <a:lnSpc>
                <a:spcPct val="100000"/>
              </a:lnSpc>
              <a:spcBef>
                <a:spcPts val="100"/>
              </a:spcBef>
            </a:pPr>
            <a:r>
              <a:rPr sz="1000" b="1" spc="-10" dirty="0">
                <a:solidFill>
                  <a:srgbClr val="666666"/>
                </a:solidFill>
                <a:latin typeface="Times New Roman"/>
                <a:cs typeface="Times New Roman"/>
              </a:rPr>
              <a:t>InstrD</a:t>
            </a:r>
            <a:endParaRPr sz="1000">
              <a:latin typeface="Times New Roman"/>
              <a:cs typeface="Times New Roman"/>
            </a:endParaRPr>
          </a:p>
        </p:txBody>
      </p:sp>
      <p:sp>
        <p:nvSpPr>
          <p:cNvPr id="7" name="object 7"/>
          <p:cNvSpPr txBox="1"/>
          <p:nvPr/>
        </p:nvSpPr>
        <p:spPr>
          <a:xfrm>
            <a:off x="7069825" y="3340444"/>
            <a:ext cx="286385" cy="177800"/>
          </a:xfrm>
          <a:prstGeom prst="rect">
            <a:avLst/>
          </a:prstGeom>
        </p:spPr>
        <p:txBody>
          <a:bodyPr vert="horz" wrap="square" lIns="0" tIns="12700" rIns="0" bIns="0" rtlCol="0">
            <a:spAutoFit/>
          </a:bodyPr>
          <a:lstStyle/>
          <a:p>
            <a:pPr marL="12700">
              <a:lnSpc>
                <a:spcPct val="100000"/>
              </a:lnSpc>
              <a:spcBef>
                <a:spcPts val="100"/>
              </a:spcBef>
            </a:pPr>
            <a:r>
              <a:rPr sz="1000" b="1" spc="-25" dirty="0">
                <a:solidFill>
                  <a:srgbClr val="666666"/>
                </a:solidFill>
                <a:latin typeface="Times New Roman"/>
                <a:cs typeface="Times New Roman"/>
              </a:rPr>
              <a:t>PCD</a:t>
            </a:r>
            <a:endParaRPr sz="1000">
              <a:latin typeface="Times New Roman"/>
              <a:cs typeface="Times New Roman"/>
            </a:endParaRPr>
          </a:p>
        </p:txBody>
      </p:sp>
      <p:sp>
        <p:nvSpPr>
          <p:cNvPr id="8" name="object 8"/>
          <p:cNvSpPr txBox="1"/>
          <p:nvPr/>
        </p:nvSpPr>
        <p:spPr>
          <a:xfrm>
            <a:off x="6010374" y="4366870"/>
            <a:ext cx="1642110" cy="416559"/>
          </a:xfrm>
          <a:prstGeom prst="rect">
            <a:avLst/>
          </a:prstGeom>
        </p:spPr>
        <p:txBody>
          <a:bodyPr vert="horz" wrap="square" lIns="0" tIns="55244" rIns="0" bIns="0" rtlCol="0">
            <a:spAutoFit/>
          </a:bodyPr>
          <a:lstStyle/>
          <a:p>
            <a:pPr marL="1071880">
              <a:lnSpc>
                <a:spcPct val="100000"/>
              </a:lnSpc>
              <a:spcBef>
                <a:spcPts val="434"/>
              </a:spcBef>
            </a:pPr>
            <a:r>
              <a:rPr sz="1000" b="1" spc="-10" dirty="0">
                <a:solidFill>
                  <a:srgbClr val="666666"/>
                </a:solidFill>
                <a:latin typeface="Times New Roman"/>
                <a:cs typeface="Times New Roman"/>
              </a:rPr>
              <a:t>PCPlus4D</a:t>
            </a:r>
            <a:endParaRPr sz="1000">
              <a:latin typeface="Times New Roman"/>
              <a:cs typeface="Times New Roman"/>
            </a:endParaRPr>
          </a:p>
          <a:p>
            <a:pPr marL="12700">
              <a:lnSpc>
                <a:spcPct val="100000"/>
              </a:lnSpc>
              <a:spcBef>
                <a:spcPts val="340"/>
              </a:spcBef>
            </a:pPr>
            <a:r>
              <a:rPr sz="1000" b="1" spc="-10" dirty="0">
                <a:solidFill>
                  <a:srgbClr val="666666"/>
                </a:solidFill>
                <a:latin typeface="Times New Roman"/>
                <a:cs typeface="Times New Roman"/>
              </a:rPr>
              <a:t>PCTargetE</a:t>
            </a:r>
            <a:endParaRPr sz="1000">
              <a:latin typeface="Times New Roman"/>
              <a:cs typeface="Times New Roman"/>
            </a:endParaRPr>
          </a:p>
        </p:txBody>
      </p:sp>
      <p:sp>
        <p:nvSpPr>
          <p:cNvPr id="9" name="object 9"/>
          <p:cNvSpPr txBox="1"/>
          <p:nvPr/>
        </p:nvSpPr>
        <p:spPr>
          <a:xfrm>
            <a:off x="5843800" y="592820"/>
            <a:ext cx="460375" cy="177800"/>
          </a:xfrm>
          <a:prstGeom prst="rect">
            <a:avLst/>
          </a:prstGeom>
        </p:spPr>
        <p:txBody>
          <a:bodyPr vert="horz" wrap="square" lIns="0" tIns="12700" rIns="0" bIns="0" rtlCol="0">
            <a:spAutoFit/>
          </a:bodyPr>
          <a:lstStyle/>
          <a:p>
            <a:pPr marL="12700">
              <a:lnSpc>
                <a:spcPct val="100000"/>
              </a:lnSpc>
              <a:spcBef>
                <a:spcPts val="100"/>
              </a:spcBef>
            </a:pPr>
            <a:r>
              <a:rPr sz="1000" b="1" spc="-10" dirty="0">
                <a:solidFill>
                  <a:srgbClr val="6C9EEB"/>
                </a:solidFill>
                <a:latin typeface="Times New Roman"/>
                <a:cs typeface="Times New Roman"/>
              </a:rPr>
              <a:t>PCSrcE</a:t>
            </a:r>
            <a:endParaRPr sz="10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65" y="1843254"/>
            <a:ext cx="5097780" cy="1244600"/>
          </a:xfrm>
          <a:prstGeom prst="rect">
            <a:avLst/>
          </a:prstGeom>
        </p:spPr>
        <p:txBody>
          <a:bodyPr vert="horz" wrap="square" lIns="0" tIns="12700" rIns="0" bIns="0" rtlCol="0">
            <a:spAutoFit/>
          </a:bodyPr>
          <a:lstStyle/>
          <a:p>
            <a:pPr marL="704215" marR="5080" indent="-692150">
              <a:lnSpc>
                <a:spcPct val="100000"/>
              </a:lnSpc>
              <a:spcBef>
                <a:spcPts val="100"/>
              </a:spcBef>
            </a:pPr>
            <a:r>
              <a:rPr sz="4000" spc="-160" dirty="0"/>
              <a:t>Implementntion</a:t>
            </a:r>
            <a:r>
              <a:rPr sz="4000" spc="-114" dirty="0"/>
              <a:t> </a:t>
            </a:r>
            <a:r>
              <a:rPr sz="4000" spc="-25" dirty="0"/>
              <a:t>of </a:t>
            </a:r>
            <a:r>
              <a:rPr sz="4000" spc="-45" dirty="0"/>
              <a:t>Decode</a:t>
            </a:r>
            <a:r>
              <a:rPr sz="4000" spc="-290" dirty="0"/>
              <a:t> </a:t>
            </a:r>
            <a:r>
              <a:rPr sz="4000" spc="-10" dirty="0"/>
              <a:t>Cycle</a:t>
            </a:r>
            <a:endParaRPr sz="4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10" dirty="0"/>
              <a:t>Decode</a:t>
            </a:r>
            <a:r>
              <a:rPr spc="-185" dirty="0"/>
              <a:t> </a:t>
            </a:r>
            <a:r>
              <a:rPr spc="-20" dirty="0"/>
              <a:t>Cycle</a:t>
            </a:r>
            <a:r>
              <a:rPr spc="-185" dirty="0"/>
              <a:t> </a:t>
            </a:r>
            <a:r>
              <a:rPr spc="-70" dirty="0"/>
              <a:t>D</a:t>
            </a:r>
            <a:r>
              <a:rPr lang="en-GB" spc="-70" dirty="0"/>
              <a:t>a</a:t>
            </a:r>
            <a:r>
              <a:rPr spc="-70" dirty="0"/>
              <a:t>t</a:t>
            </a:r>
            <a:r>
              <a:rPr lang="en-GB" spc="-70" dirty="0"/>
              <a:t>a</a:t>
            </a:r>
            <a:r>
              <a:rPr spc="-70" dirty="0"/>
              <a:t>p</a:t>
            </a:r>
            <a:r>
              <a:rPr lang="en-GB" spc="-70" dirty="0"/>
              <a:t>a</a:t>
            </a:r>
            <a:r>
              <a:rPr spc="-70" dirty="0" err="1"/>
              <a:t>th</a:t>
            </a:r>
            <a:endParaRPr spc="-70" dirty="0"/>
          </a:p>
        </p:txBody>
      </p:sp>
      <p:pic>
        <p:nvPicPr>
          <p:cNvPr id="3" name="object 3"/>
          <p:cNvPicPr/>
          <p:nvPr/>
        </p:nvPicPr>
        <p:blipFill>
          <a:blip r:embed="rId2" cstate="print"/>
          <a:stretch>
            <a:fillRect/>
          </a:stretch>
        </p:blipFill>
        <p:spPr>
          <a:xfrm>
            <a:off x="4738399" y="208927"/>
            <a:ext cx="3074474" cy="4901917"/>
          </a:xfrm>
          <a:prstGeom prst="rect">
            <a:avLst/>
          </a:prstGeom>
        </p:spPr>
      </p:pic>
      <p:sp>
        <p:nvSpPr>
          <p:cNvPr id="4" name="object 4"/>
          <p:cNvSpPr txBox="1"/>
          <p:nvPr/>
        </p:nvSpPr>
        <p:spPr>
          <a:xfrm>
            <a:off x="448400" y="1447687"/>
            <a:ext cx="2039620"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Modules</a:t>
            </a:r>
            <a:r>
              <a:rPr sz="1400" spc="-10" dirty="0">
                <a:latin typeface="Arial MT"/>
                <a:cs typeface="Arial MT"/>
              </a:rPr>
              <a:t> </a:t>
            </a:r>
            <a:r>
              <a:rPr sz="1400" dirty="0">
                <a:latin typeface="Arial MT"/>
                <a:cs typeface="Arial MT"/>
              </a:rPr>
              <a:t>to</a:t>
            </a:r>
            <a:r>
              <a:rPr sz="1400" spc="-10" dirty="0">
                <a:latin typeface="Arial MT"/>
                <a:cs typeface="Arial MT"/>
              </a:rPr>
              <a:t> </a:t>
            </a:r>
            <a:r>
              <a:rPr sz="1400" dirty="0">
                <a:latin typeface="Arial MT"/>
                <a:cs typeface="Arial MT"/>
              </a:rPr>
              <a:t>be</a:t>
            </a:r>
            <a:r>
              <a:rPr sz="1400" spc="-5" dirty="0">
                <a:latin typeface="Arial MT"/>
                <a:cs typeface="Arial MT"/>
              </a:rPr>
              <a:t> </a:t>
            </a:r>
            <a:r>
              <a:rPr sz="1400" spc="-10" dirty="0">
                <a:latin typeface="Arial MT"/>
                <a:cs typeface="Arial MT"/>
              </a:rPr>
              <a:t>Integrated:</a:t>
            </a:r>
            <a:endParaRPr sz="1400">
              <a:latin typeface="Arial MT"/>
              <a:cs typeface="Arial MT"/>
            </a:endParaRPr>
          </a:p>
        </p:txBody>
      </p:sp>
      <p:sp>
        <p:nvSpPr>
          <p:cNvPr id="5" name="object 5"/>
          <p:cNvSpPr txBox="1"/>
          <p:nvPr/>
        </p:nvSpPr>
        <p:spPr>
          <a:xfrm>
            <a:off x="518995" y="1661047"/>
            <a:ext cx="2338705" cy="878840"/>
          </a:xfrm>
          <a:prstGeom prst="rect">
            <a:avLst/>
          </a:prstGeom>
        </p:spPr>
        <p:txBody>
          <a:bodyPr vert="horz" wrap="square" lIns="0" tIns="12700" rIns="0" bIns="0" rtlCol="0">
            <a:spAutoFit/>
          </a:bodyPr>
          <a:lstStyle/>
          <a:p>
            <a:pPr marL="398780" indent="-386080">
              <a:lnSpc>
                <a:spcPct val="100000"/>
              </a:lnSpc>
              <a:spcBef>
                <a:spcPts val="100"/>
              </a:spcBef>
              <a:buAutoNum type="arabicParenR"/>
              <a:tabLst>
                <a:tab pos="398780" algn="l"/>
              </a:tabLst>
            </a:pPr>
            <a:r>
              <a:rPr sz="1400" dirty="0">
                <a:latin typeface="Arial MT"/>
                <a:cs typeface="Arial MT"/>
              </a:rPr>
              <a:t>Control</a:t>
            </a:r>
            <a:r>
              <a:rPr sz="1400" spc="-35" dirty="0">
                <a:latin typeface="Arial MT"/>
                <a:cs typeface="Arial MT"/>
              </a:rPr>
              <a:t> </a:t>
            </a:r>
            <a:r>
              <a:rPr sz="1400" spc="-20" dirty="0">
                <a:latin typeface="Arial MT"/>
                <a:cs typeface="Arial MT"/>
              </a:rPr>
              <a:t>Unit</a:t>
            </a:r>
            <a:endParaRPr sz="1400">
              <a:latin typeface="Arial MT"/>
              <a:cs typeface="Arial MT"/>
            </a:endParaRPr>
          </a:p>
          <a:p>
            <a:pPr marL="398780" indent="-386080">
              <a:lnSpc>
                <a:spcPct val="100000"/>
              </a:lnSpc>
              <a:buAutoNum type="arabicParenR"/>
              <a:tabLst>
                <a:tab pos="398780" algn="l"/>
              </a:tabLst>
            </a:pPr>
            <a:r>
              <a:rPr sz="1400" dirty="0">
                <a:latin typeface="Arial MT"/>
                <a:cs typeface="Arial MT"/>
              </a:rPr>
              <a:t>Register</a:t>
            </a:r>
            <a:r>
              <a:rPr sz="1400" spc="-5" dirty="0">
                <a:latin typeface="Arial MT"/>
                <a:cs typeface="Arial MT"/>
              </a:rPr>
              <a:t> </a:t>
            </a:r>
            <a:r>
              <a:rPr sz="1400" spc="-20" dirty="0">
                <a:latin typeface="Arial MT"/>
                <a:cs typeface="Arial MT"/>
              </a:rPr>
              <a:t>File</a:t>
            </a:r>
            <a:endParaRPr sz="1400">
              <a:latin typeface="Arial MT"/>
              <a:cs typeface="Arial MT"/>
            </a:endParaRPr>
          </a:p>
          <a:p>
            <a:pPr marL="398780" indent="-386080">
              <a:lnSpc>
                <a:spcPct val="100000"/>
              </a:lnSpc>
              <a:buAutoNum type="arabicParenR"/>
              <a:tabLst>
                <a:tab pos="398780" algn="l"/>
              </a:tabLst>
            </a:pPr>
            <a:r>
              <a:rPr sz="1400" spc="-10" dirty="0">
                <a:latin typeface="Arial MT"/>
                <a:cs typeface="Arial MT"/>
              </a:rPr>
              <a:t>Extender</a:t>
            </a:r>
            <a:endParaRPr sz="1400">
              <a:latin typeface="Arial MT"/>
              <a:cs typeface="Arial MT"/>
            </a:endParaRPr>
          </a:p>
          <a:p>
            <a:pPr marL="398780" indent="-386080">
              <a:lnSpc>
                <a:spcPct val="100000"/>
              </a:lnSpc>
              <a:buAutoNum type="arabicParenR"/>
              <a:tabLst>
                <a:tab pos="398780" algn="l"/>
              </a:tabLst>
            </a:pPr>
            <a:r>
              <a:rPr sz="1400" dirty="0">
                <a:latin typeface="Arial MT"/>
                <a:cs typeface="Arial MT"/>
              </a:rPr>
              <a:t>Decode</a:t>
            </a:r>
            <a:r>
              <a:rPr sz="1400" spc="-30" dirty="0">
                <a:latin typeface="Arial MT"/>
                <a:cs typeface="Arial MT"/>
              </a:rPr>
              <a:t> </a:t>
            </a:r>
            <a:r>
              <a:rPr sz="1400" dirty="0">
                <a:latin typeface="Arial MT"/>
                <a:cs typeface="Arial MT"/>
              </a:rPr>
              <a:t>Stage</a:t>
            </a:r>
            <a:r>
              <a:rPr sz="1400" spc="-25" dirty="0">
                <a:latin typeface="Arial MT"/>
                <a:cs typeface="Arial MT"/>
              </a:rPr>
              <a:t> </a:t>
            </a:r>
            <a:r>
              <a:rPr sz="1400" spc="-10" dirty="0">
                <a:latin typeface="Arial MT"/>
                <a:cs typeface="Arial MT"/>
              </a:rPr>
              <a:t>Registers</a:t>
            </a:r>
            <a:endParaRPr sz="1400">
              <a:latin typeface="Arial MT"/>
              <a:cs typeface="Arial MT"/>
            </a:endParaRPr>
          </a:p>
        </p:txBody>
      </p:sp>
      <p:sp>
        <p:nvSpPr>
          <p:cNvPr id="6" name="object 6"/>
          <p:cNvSpPr txBox="1"/>
          <p:nvPr/>
        </p:nvSpPr>
        <p:spPr>
          <a:xfrm>
            <a:off x="4082350" y="2413395"/>
            <a:ext cx="385445" cy="177800"/>
          </a:xfrm>
          <a:prstGeom prst="rect">
            <a:avLst/>
          </a:prstGeom>
        </p:spPr>
        <p:txBody>
          <a:bodyPr vert="horz" wrap="square" lIns="0" tIns="12700" rIns="0" bIns="0" rtlCol="0">
            <a:spAutoFit/>
          </a:bodyPr>
          <a:lstStyle/>
          <a:p>
            <a:pPr marL="12700">
              <a:lnSpc>
                <a:spcPct val="100000"/>
              </a:lnSpc>
              <a:spcBef>
                <a:spcPts val="100"/>
              </a:spcBef>
            </a:pPr>
            <a:r>
              <a:rPr sz="1000" b="1" spc="-10" dirty="0">
                <a:solidFill>
                  <a:srgbClr val="666666"/>
                </a:solidFill>
                <a:latin typeface="Times New Roman"/>
                <a:cs typeface="Times New Roman"/>
              </a:rPr>
              <a:t>InstrD</a:t>
            </a:r>
            <a:endParaRPr sz="1000">
              <a:latin typeface="Times New Roman"/>
              <a:cs typeface="Times New Roman"/>
            </a:endParaRPr>
          </a:p>
        </p:txBody>
      </p:sp>
      <p:sp>
        <p:nvSpPr>
          <p:cNvPr id="7" name="object 7"/>
          <p:cNvSpPr txBox="1"/>
          <p:nvPr/>
        </p:nvSpPr>
        <p:spPr>
          <a:xfrm>
            <a:off x="4139275" y="3203744"/>
            <a:ext cx="286385" cy="177800"/>
          </a:xfrm>
          <a:prstGeom prst="rect">
            <a:avLst/>
          </a:prstGeom>
        </p:spPr>
        <p:txBody>
          <a:bodyPr vert="horz" wrap="square" lIns="0" tIns="12700" rIns="0" bIns="0" rtlCol="0">
            <a:spAutoFit/>
          </a:bodyPr>
          <a:lstStyle/>
          <a:p>
            <a:pPr marL="12700">
              <a:lnSpc>
                <a:spcPct val="100000"/>
              </a:lnSpc>
              <a:spcBef>
                <a:spcPts val="100"/>
              </a:spcBef>
            </a:pPr>
            <a:r>
              <a:rPr sz="1000" b="1" spc="-25" dirty="0">
                <a:solidFill>
                  <a:srgbClr val="666666"/>
                </a:solidFill>
                <a:latin typeface="Times New Roman"/>
                <a:cs typeface="Times New Roman"/>
              </a:rPr>
              <a:t>PCD</a:t>
            </a:r>
            <a:endParaRPr sz="1000">
              <a:latin typeface="Times New Roman"/>
              <a:cs typeface="Times New Roman"/>
            </a:endParaRPr>
          </a:p>
        </p:txBody>
      </p:sp>
      <p:sp>
        <p:nvSpPr>
          <p:cNvPr id="8" name="object 8"/>
          <p:cNvSpPr txBox="1"/>
          <p:nvPr/>
        </p:nvSpPr>
        <p:spPr>
          <a:xfrm>
            <a:off x="4082350" y="4204070"/>
            <a:ext cx="582930" cy="177800"/>
          </a:xfrm>
          <a:prstGeom prst="rect">
            <a:avLst/>
          </a:prstGeom>
        </p:spPr>
        <p:txBody>
          <a:bodyPr vert="horz" wrap="square" lIns="0" tIns="12700" rIns="0" bIns="0" rtlCol="0">
            <a:spAutoFit/>
          </a:bodyPr>
          <a:lstStyle/>
          <a:p>
            <a:pPr marL="12700">
              <a:lnSpc>
                <a:spcPct val="100000"/>
              </a:lnSpc>
              <a:spcBef>
                <a:spcPts val="100"/>
              </a:spcBef>
            </a:pPr>
            <a:r>
              <a:rPr sz="1000" b="1" spc="-10" dirty="0">
                <a:solidFill>
                  <a:srgbClr val="666666"/>
                </a:solidFill>
                <a:latin typeface="Times New Roman"/>
                <a:cs typeface="Times New Roman"/>
              </a:rPr>
              <a:t>PCPlus4D</a:t>
            </a:r>
            <a:endParaRPr sz="1000">
              <a:latin typeface="Times New Roman"/>
              <a:cs typeface="Times New Roman"/>
            </a:endParaRPr>
          </a:p>
        </p:txBody>
      </p:sp>
      <p:sp>
        <p:nvSpPr>
          <p:cNvPr id="9" name="object 9"/>
          <p:cNvSpPr txBox="1"/>
          <p:nvPr/>
        </p:nvSpPr>
        <p:spPr>
          <a:xfrm>
            <a:off x="7810924" y="250769"/>
            <a:ext cx="679450" cy="177800"/>
          </a:xfrm>
          <a:prstGeom prst="rect">
            <a:avLst/>
          </a:prstGeom>
        </p:spPr>
        <p:txBody>
          <a:bodyPr vert="horz" wrap="square" lIns="0" tIns="12700" rIns="0" bIns="0" rtlCol="0">
            <a:spAutoFit/>
          </a:bodyPr>
          <a:lstStyle/>
          <a:p>
            <a:pPr marL="12700">
              <a:lnSpc>
                <a:spcPct val="100000"/>
              </a:lnSpc>
              <a:spcBef>
                <a:spcPts val="100"/>
              </a:spcBef>
            </a:pPr>
            <a:r>
              <a:rPr sz="1000" b="1" spc="-10" dirty="0">
                <a:solidFill>
                  <a:srgbClr val="6C9EEB"/>
                </a:solidFill>
                <a:latin typeface="Times New Roman"/>
                <a:cs typeface="Times New Roman"/>
              </a:rPr>
              <a:t>RegWriteW</a:t>
            </a:r>
            <a:endParaRPr sz="1000">
              <a:latin typeface="Times New Roman"/>
              <a:cs typeface="Times New Roman"/>
            </a:endParaRPr>
          </a:p>
        </p:txBody>
      </p:sp>
      <p:sp>
        <p:nvSpPr>
          <p:cNvPr id="10" name="object 10"/>
          <p:cNvSpPr txBox="1"/>
          <p:nvPr/>
        </p:nvSpPr>
        <p:spPr>
          <a:xfrm>
            <a:off x="7848175" y="4389995"/>
            <a:ext cx="498475" cy="591185"/>
          </a:xfrm>
          <a:prstGeom prst="rect">
            <a:avLst/>
          </a:prstGeom>
        </p:spPr>
        <p:txBody>
          <a:bodyPr vert="horz" wrap="square" lIns="0" tIns="12700" rIns="0" bIns="0" rtlCol="0">
            <a:spAutoFit/>
          </a:bodyPr>
          <a:lstStyle/>
          <a:p>
            <a:pPr marL="50165" marR="129539" indent="43815">
              <a:lnSpc>
                <a:spcPct val="109300"/>
              </a:lnSpc>
              <a:spcBef>
                <a:spcPts val="100"/>
              </a:spcBef>
            </a:pPr>
            <a:r>
              <a:rPr sz="1000" b="1" spc="-50" dirty="0">
                <a:solidFill>
                  <a:srgbClr val="FF0000"/>
                </a:solidFill>
                <a:latin typeface="Times New Roman"/>
                <a:cs typeface="Times New Roman"/>
              </a:rPr>
              <a:t>X</a:t>
            </a:r>
            <a:r>
              <a:rPr sz="1000" b="1" spc="-25" dirty="0">
                <a:solidFill>
                  <a:srgbClr val="FF0000"/>
                </a:solidFill>
                <a:latin typeface="Times New Roman"/>
                <a:cs typeface="Times New Roman"/>
              </a:rPr>
              <a:t> </a:t>
            </a:r>
            <a:r>
              <a:rPr sz="1000" b="1" spc="-25" dirty="0">
                <a:solidFill>
                  <a:srgbClr val="666666"/>
                </a:solidFill>
                <a:latin typeface="Times New Roman"/>
                <a:cs typeface="Times New Roman"/>
              </a:rPr>
              <a:t>RDW</a:t>
            </a:r>
            <a:endParaRPr sz="1000">
              <a:latin typeface="Times New Roman"/>
              <a:cs typeface="Times New Roman"/>
            </a:endParaRPr>
          </a:p>
          <a:p>
            <a:pPr marL="12700">
              <a:lnSpc>
                <a:spcPct val="100000"/>
              </a:lnSpc>
              <a:spcBef>
                <a:spcPts val="625"/>
              </a:spcBef>
            </a:pPr>
            <a:r>
              <a:rPr sz="1000" b="1" spc="-10" dirty="0">
                <a:solidFill>
                  <a:srgbClr val="666666"/>
                </a:solidFill>
                <a:latin typeface="Times New Roman"/>
                <a:cs typeface="Times New Roman"/>
              </a:rPr>
              <a:t>ResultW</a:t>
            </a:r>
            <a:endParaRPr sz="1000">
              <a:latin typeface="Times New Roman"/>
              <a:cs typeface="Times New Roman"/>
            </a:endParaRPr>
          </a:p>
        </p:txBody>
      </p:sp>
      <p:sp>
        <p:nvSpPr>
          <p:cNvPr id="11" name="object 11"/>
          <p:cNvSpPr txBox="1"/>
          <p:nvPr/>
        </p:nvSpPr>
        <p:spPr>
          <a:xfrm>
            <a:off x="7885900" y="523795"/>
            <a:ext cx="117475" cy="177800"/>
          </a:xfrm>
          <a:prstGeom prst="rect">
            <a:avLst/>
          </a:prstGeom>
        </p:spPr>
        <p:txBody>
          <a:bodyPr vert="horz" wrap="square" lIns="0" tIns="12700" rIns="0" bIns="0" rtlCol="0">
            <a:spAutoFit/>
          </a:bodyPr>
          <a:lstStyle/>
          <a:p>
            <a:pPr marL="12700">
              <a:lnSpc>
                <a:spcPct val="100000"/>
              </a:lnSpc>
              <a:spcBef>
                <a:spcPts val="100"/>
              </a:spcBef>
            </a:pPr>
            <a:r>
              <a:rPr sz="1000" b="1" spc="-50" dirty="0">
                <a:solidFill>
                  <a:srgbClr val="FF0000"/>
                </a:solidFill>
                <a:latin typeface="Times New Roman"/>
                <a:cs typeface="Times New Roman"/>
              </a:rPr>
              <a:t>X</a:t>
            </a:r>
            <a:endParaRPr sz="10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65" y="1843254"/>
            <a:ext cx="5097780" cy="1244600"/>
          </a:xfrm>
          <a:prstGeom prst="rect">
            <a:avLst/>
          </a:prstGeom>
        </p:spPr>
        <p:txBody>
          <a:bodyPr vert="horz" wrap="square" lIns="0" tIns="12700" rIns="0" bIns="0" rtlCol="0">
            <a:spAutoFit/>
          </a:bodyPr>
          <a:lstStyle/>
          <a:p>
            <a:pPr marL="650240" marR="5080" indent="-638175">
              <a:lnSpc>
                <a:spcPct val="100000"/>
              </a:lnSpc>
              <a:spcBef>
                <a:spcPts val="100"/>
              </a:spcBef>
            </a:pPr>
            <a:r>
              <a:rPr sz="4000" spc="-160" dirty="0"/>
              <a:t>Implementntion</a:t>
            </a:r>
            <a:r>
              <a:rPr sz="4000" spc="-114" dirty="0"/>
              <a:t> </a:t>
            </a:r>
            <a:r>
              <a:rPr sz="4000" spc="-25" dirty="0"/>
              <a:t>of </a:t>
            </a:r>
            <a:r>
              <a:rPr sz="4000" spc="-100" dirty="0"/>
              <a:t>Execute</a:t>
            </a:r>
            <a:r>
              <a:rPr sz="4000" spc="-210" dirty="0"/>
              <a:t> </a:t>
            </a:r>
            <a:r>
              <a:rPr sz="4000" spc="-10" dirty="0"/>
              <a:t>Cycle</a:t>
            </a:r>
            <a:endParaRPr sz="4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5" dirty="0"/>
              <a:t>Execute</a:t>
            </a:r>
            <a:r>
              <a:rPr spc="-170" dirty="0"/>
              <a:t> </a:t>
            </a:r>
            <a:r>
              <a:rPr spc="-20" dirty="0"/>
              <a:t>Cycle</a:t>
            </a:r>
            <a:r>
              <a:rPr spc="-175" dirty="0"/>
              <a:t> </a:t>
            </a:r>
            <a:r>
              <a:rPr spc="-70" dirty="0"/>
              <a:t>D</a:t>
            </a:r>
            <a:r>
              <a:rPr lang="en-GB" spc="-70" dirty="0"/>
              <a:t>a</a:t>
            </a:r>
            <a:r>
              <a:rPr spc="-70" dirty="0"/>
              <a:t>t</a:t>
            </a:r>
            <a:r>
              <a:rPr lang="en-GB" spc="-70" dirty="0"/>
              <a:t>a</a:t>
            </a:r>
            <a:r>
              <a:rPr spc="-70" dirty="0"/>
              <a:t>p</a:t>
            </a:r>
            <a:r>
              <a:rPr lang="en-GB" spc="-70" dirty="0"/>
              <a:t>a</a:t>
            </a:r>
            <a:r>
              <a:rPr spc="-70" dirty="0" err="1"/>
              <a:t>th</a:t>
            </a:r>
            <a:endParaRPr spc="-70" dirty="0"/>
          </a:p>
        </p:txBody>
      </p:sp>
      <p:pic>
        <p:nvPicPr>
          <p:cNvPr id="3" name="object 3"/>
          <p:cNvPicPr/>
          <p:nvPr/>
        </p:nvPicPr>
        <p:blipFill>
          <a:blip r:embed="rId2" cstate="print"/>
          <a:stretch>
            <a:fillRect/>
          </a:stretch>
        </p:blipFill>
        <p:spPr>
          <a:xfrm>
            <a:off x="5119399" y="208927"/>
            <a:ext cx="2973450" cy="4901917"/>
          </a:xfrm>
          <a:prstGeom prst="rect">
            <a:avLst/>
          </a:prstGeom>
        </p:spPr>
      </p:pic>
      <p:sp>
        <p:nvSpPr>
          <p:cNvPr id="4" name="object 4"/>
          <p:cNvSpPr txBox="1"/>
          <p:nvPr/>
        </p:nvSpPr>
        <p:spPr>
          <a:xfrm>
            <a:off x="448400" y="1447687"/>
            <a:ext cx="2439035" cy="13055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Modules</a:t>
            </a:r>
            <a:r>
              <a:rPr sz="1400" spc="-10" dirty="0">
                <a:latin typeface="Arial MT"/>
                <a:cs typeface="Arial MT"/>
              </a:rPr>
              <a:t> </a:t>
            </a:r>
            <a:r>
              <a:rPr sz="1400" dirty="0">
                <a:latin typeface="Arial MT"/>
                <a:cs typeface="Arial MT"/>
              </a:rPr>
              <a:t>to</a:t>
            </a:r>
            <a:r>
              <a:rPr sz="1400" spc="-10" dirty="0">
                <a:latin typeface="Arial MT"/>
                <a:cs typeface="Arial MT"/>
              </a:rPr>
              <a:t> </a:t>
            </a:r>
            <a:r>
              <a:rPr sz="1400" dirty="0">
                <a:latin typeface="Arial MT"/>
                <a:cs typeface="Arial MT"/>
              </a:rPr>
              <a:t>be</a:t>
            </a:r>
            <a:r>
              <a:rPr sz="1400" spc="-5" dirty="0">
                <a:latin typeface="Arial MT"/>
                <a:cs typeface="Arial MT"/>
              </a:rPr>
              <a:t> </a:t>
            </a:r>
            <a:r>
              <a:rPr sz="1400" spc="-10" dirty="0">
                <a:latin typeface="Arial MT"/>
                <a:cs typeface="Arial MT"/>
              </a:rPr>
              <a:t>Integrated:</a:t>
            </a:r>
            <a:endParaRPr sz="1400">
              <a:latin typeface="Arial MT"/>
              <a:cs typeface="Arial MT"/>
            </a:endParaRPr>
          </a:p>
          <a:p>
            <a:pPr marL="469265" indent="-386080">
              <a:lnSpc>
                <a:spcPct val="100000"/>
              </a:lnSpc>
              <a:buAutoNum type="arabicParenR"/>
              <a:tabLst>
                <a:tab pos="469265" algn="l"/>
              </a:tabLst>
            </a:pPr>
            <a:r>
              <a:rPr sz="1400" dirty="0">
                <a:latin typeface="Arial MT"/>
                <a:cs typeface="Arial MT"/>
              </a:rPr>
              <a:t>AND</a:t>
            </a:r>
            <a:r>
              <a:rPr sz="1400" spc="-45" dirty="0">
                <a:latin typeface="Arial MT"/>
                <a:cs typeface="Arial MT"/>
              </a:rPr>
              <a:t> </a:t>
            </a:r>
            <a:r>
              <a:rPr sz="1400" spc="-20" dirty="0">
                <a:latin typeface="Arial MT"/>
                <a:cs typeface="Arial MT"/>
              </a:rPr>
              <a:t>Gate</a:t>
            </a:r>
            <a:endParaRPr sz="1400">
              <a:latin typeface="Arial MT"/>
              <a:cs typeface="Arial MT"/>
            </a:endParaRPr>
          </a:p>
          <a:p>
            <a:pPr marL="469265" indent="-386080">
              <a:lnSpc>
                <a:spcPct val="100000"/>
              </a:lnSpc>
              <a:buAutoNum type="arabicParenR"/>
              <a:tabLst>
                <a:tab pos="469265" algn="l"/>
              </a:tabLst>
            </a:pPr>
            <a:r>
              <a:rPr sz="1400" spc="-25" dirty="0">
                <a:latin typeface="Arial MT"/>
                <a:cs typeface="Arial MT"/>
              </a:rPr>
              <a:t>Mux</a:t>
            </a:r>
            <a:endParaRPr sz="1400">
              <a:latin typeface="Arial MT"/>
              <a:cs typeface="Arial MT"/>
            </a:endParaRPr>
          </a:p>
          <a:p>
            <a:pPr marL="469265" indent="-386080">
              <a:lnSpc>
                <a:spcPct val="100000"/>
              </a:lnSpc>
              <a:buAutoNum type="arabicParenR"/>
              <a:tabLst>
                <a:tab pos="469265" algn="l"/>
              </a:tabLst>
            </a:pPr>
            <a:r>
              <a:rPr sz="1400" spc="-10" dirty="0">
                <a:latin typeface="Arial MT"/>
                <a:cs typeface="Arial MT"/>
              </a:rPr>
              <a:t>Adder</a:t>
            </a:r>
            <a:endParaRPr sz="1400">
              <a:latin typeface="Arial MT"/>
              <a:cs typeface="Arial MT"/>
            </a:endParaRPr>
          </a:p>
          <a:p>
            <a:pPr marL="469265" indent="-386080">
              <a:lnSpc>
                <a:spcPct val="100000"/>
              </a:lnSpc>
              <a:buAutoNum type="arabicParenR"/>
              <a:tabLst>
                <a:tab pos="469265" algn="l"/>
              </a:tabLst>
            </a:pPr>
            <a:r>
              <a:rPr sz="1400" spc="-25" dirty="0">
                <a:latin typeface="Arial MT"/>
                <a:cs typeface="Arial MT"/>
              </a:rPr>
              <a:t>ALU</a:t>
            </a:r>
            <a:endParaRPr sz="1400">
              <a:latin typeface="Arial MT"/>
              <a:cs typeface="Arial MT"/>
            </a:endParaRPr>
          </a:p>
          <a:p>
            <a:pPr marL="469265" indent="-386080">
              <a:lnSpc>
                <a:spcPct val="100000"/>
              </a:lnSpc>
              <a:buAutoNum type="arabicParenR"/>
              <a:tabLst>
                <a:tab pos="469265" algn="l"/>
              </a:tabLst>
            </a:pPr>
            <a:r>
              <a:rPr sz="1400" dirty="0">
                <a:latin typeface="Arial MT"/>
                <a:cs typeface="Arial MT"/>
              </a:rPr>
              <a:t>Execute</a:t>
            </a:r>
            <a:r>
              <a:rPr sz="1400" spc="-30" dirty="0">
                <a:latin typeface="Arial MT"/>
                <a:cs typeface="Arial MT"/>
              </a:rPr>
              <a:t> </a:t>
            </a:r>
            <a:r>
              <a:rPr sz="1400" dirty="0">
                <a:latin typeface="Arial MT"/>
                <a:cs typeface="Arial MT"/>
              </a:rPr>
              <a:t>Stage</a:t>
            </a:r>
            <a:r>
              <a:rPr sz="1400" spc="-30" dirty="0">
                <a:latin typeface="Arial MT"/>
                <a:cs typeface="Arial MT"/>
              </a:rPr>
              <a:t> </a:t>
            </a:r>
            <a:r>
              <a:rPr sz="1400" spc="-10" dirty="0">
                <a:latin typeface="Arial MT"/>
                <a:cs typeface="Arial MT"/>
              </a:rPr>
              <a:t>Registers</a:t>
            </a:r>
            <a:endParaRPr sz="1400">
              <a:latin typeface="Arial MT"/>
              <a:cs typeface="Arial MT"/>
            </a:endParaRPr>
          </a:p>
        </p:txBody>
      </p:sp>
      <p:sp>
        <p:nvSpPr>
          <p:cNvPr id="5" name="object 5"/>
          <p:cNvSpPr txBox="1"/>
          <p:nvPr/>
        </p:nvSpPr>
        <p:spPr>
          <a:xfrm>
            <a:off x="8266900" y="4570795"/>
            <a:ext cx="117475" cy="440690"/>
          </a:xfrm>
          <a:prstGeom prst="rect">
            <a:avLst/>
          </a:prstGeom>
        </p:spPr>
        <p:txBody>
          <a:bodyPr vert="horz" wrap="square" lIns="0" tIns="12700" rIns="0" bIns="0" rtlCol="0">
            <a:spAutoFit/>
          </a:bodyPr>
          <a:lstStyle/>
          <a:p>
            <a:pPr marL="12700">
              <a:lnSpc>
                <a:spcPct val="100000"/>
              </a:lnSpc>
              <a:spcBef>
                <a:spcPts val="100"/>
              </a:spcBef>
            </a:pPr>
            <a:r>
              <a:rPr sz="1000" b="1" spc="-50" dirty="0">
                <a:solidFill>
                  <a:srgbClr val="FF0000"/>
                </a:solidFill>
                <a:latin typeface="Times New Roman"/>
                <a:cs typeface="Times New Roman"/>
              </a:rPr>
              <a:t>X</a:t>
            </a:r>
            <a:endParaRPr sz="1000">
              <a:latin typeface="Times New Roman"/>
              <a:cs typeface="Times New Roman"/>
            </a:endParaRPr>
          </a:p>
          <a:p>
            <a:pPr marL="12700">
              <a:lnSpc>
                <a:spcPct val="100000"/>
              </a:lnSpc>
              <a:spcBef>
                <a:spcPts val="870"/>
              </a:spcBef>
            </a:pPr>
            <a:r>
              <a:rPr sz="1000" b="1" spc="-50" dirty="0">
                <a:solidFill>
                  <a:srgbClr val="FF0000"/>
                </a:solidFill>
                <a:latin typeface="Times New Roman"/>
                <a:cs typeface="Times New Roman"/>
              </a:rPr>
              <a:t>X</a:t>
            </a:r>
            <a:endParaRPr sz="1000">
              <a:latin typeface="Times New Roman"/>
              <a:cs typeface="Times New Roman"/>
            </a:endParaRPr>
          </a:p>
        </p:txBody>
      </p:sp>
      <p:sp>
        <p:nvSpPr>
          <p:cNvPr id="6" name="object 6"/>
          <p:cNvSpPr txBox="1"/>
          <p:nvPr/>
        </p:nvSpPr>
        <p:spPr>
          <a:xfrm>
            <a:off x="8219950" y="268920"/>
            <a:ext cx="117475" cy="177800"/>
          </a:xfrm>
          <a:prstGeom prst="rect">
            <a:avLst/>
          </a:prstGeom>
        </p:spPr>
        <p:txBody>
          <a:bodyPr vert="horz" wrap="square" lIns="0" tIns="12700" rIns="0" bIns="0" rtlCol="0">
            <a:spAutoFit/>
          </a:bodyPr>
          <a:lstStyle/>
          <a:p>
            <a:pPr marL="12700">
              <a:lnSpc>
                <a:spcPct val="100000"/>
              </a:lnSpc>
              <a:spcBef>
                <a:spcPts val="100"/>
              </a:spcBef>
            </a:pPr>
            <a:r>
              <a:rPr sz="1000" b="1" spc="-50" dirty="0">
                <a:solidFill>
                  <a:srgbClr val="FF0000"/>
                </a:solidFill>
                <a:latin typeface="Times New Roman"/>
                <a:cs typeface="Times New Roman"/>
              </a:rPr>
              <a:t>X</a:t>
            </a:r>
            <a:endParaRPr sz="100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65" y="1843254"/>
            <a:ext cx="5097780" cy="1244600"/>
          </a:xfrm>
          <a:prstGeom prst="rect">
            <a:avLst/>
          </a:prstGeom>
        </p:spPr>
        <p:txBody>
          <a:bodyPr vert="horz" wrap="square" lIns="0" tIns="12700" rIns="0" bIns="0" rtlCol="0">
            <a:spAutoFit/>
          </a:bodyPr>
          <a:lstStyle/>
          <a:p>
            <a:pPr marL="622300" marR="5080" indent="-610235">
              <a:lnSpc>
                <a:spcPct val="100000"/>
              </a:lnSpc>
              <a:spcBef>
                <a:spcPts val="100"/>
              </a:spcBef>
            </a:pPr>
            <a:r>
              <a:rPr sz="4000" spc="-160" dirty="0"/>
              <a:t>Implementntion</a:t>
            </a:r>
            <a:r>
              <a:rPr sz="4000" spc="-114" dirty="0"/>
              <a:t> </a:t>
            </a:r>
            <a:r>
              <a:rPr sz="4000" spc="-25" dirty="0"/>
              <a:t>of </a:t>
            </a:r>
            <a:r>
              <a:rPr sz="4000" spc="-95" dirty="0"/>
              <a:t>Memory</a:t>
            </a:r>
            <a:r>
              <a:rPr sz="4000" spc="-229" dirty="0"/>
              <a:t> </a:t>
            </a:r>
            <a:r>
              <a:rPr sz="4000" spc="-10" dirty="0"/>
              <a:t>Cycle</a:t>
            </a:r>
            <a:endParaRPr sz="4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35" dirty="0"/>
              <a:t>Memory</a:t>
            </a:r>
            <a:r>
              <a:rPr spc="-180" dirty="0"/>
              <a:t> </a:t>
            </a:r>
            <a:r>
              <a:rPr spc="-20" dirty="0"/>
              <a:t>Cycle</a:t>
            </a:r>
            <a:r>
              <a:rPr spc="-180" dirty="0"/>
              <a:t> </a:t>
            </a:r>
            <a:r>
              <a:rPr spc="-65" dirty="0"/>
              <a:t>D</a:t>
            </a:r>
            <a:r>
              <a:rPr lang="en-GB" spc="-65" dirty="0"/>
              <a:t>a</a:t>
            </a:r>
            <a:r>
              <a:rPr spc="-65" dirty="0"/>
              <a:t>t</a:t>
            </a:r>
            <a:r>
              <a:rPr lang="en-GB" spc="-65" dirty="0"/>
              <a:t>a</a:t>
            </a:r>
            <a:r>
              <a:rPr spc="-65" dirty="0"/>
              <a:t>p</a:t>
            </a:r>
            <a:r>
              <a:rPr lang="en-GB" spc="-65" dirty="0"/>
              <a:t>a</a:t>
            </a:r>
            <a:r>
              <a:rPr spc="-65" dirty="0" err="1"/>
              <a:t>th</a:t>
            </a:r>
            <a:endParaRPr spc="-65" dirty="0"/>
          </a:p>
        </p:txBody>
      </p:sp>
      <p:pic>
        <p:nvPicPr>
          <p:cNvPr id="3" name="object 3"/>
          <p:cNvPicPr/>
          <p:nvPr/>
        </p:nvPicPr>
        <p:blipFill>
          <a:blip r:embed="rId2" cstate="print"/>
          <a:stretch>
            <a:fillRect/>
          </a:stretch>
        </p:blipFill>
        <p:spPr>
          <a:xfrm>
            <a:off x="5490400" y="208927"/>
            <a:ext cx="1845500" cy="4901917"/>
          </a:xfrm>
          <a:prstGeom prst="rect">
            <a:avLst/>
          </a:prstGeom>
        </p:spPr>
      </p:pic>
      <p:sp>
        <p:nvSpPr>
          <p:cNvPr id="4" name="object 4"/>
          <p:cNvSpPr txBox="1"/>
          <p:nvPr/>
        </p:nvSpPr>
        <p:spPr>
          <a:xfrm>
            <a:off x="448400" y="1447687"/>
            <a:ext cx="2439035" cy="66548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Modules</a:t>
            </a:r>
            <a:r>
              <a:rPr sz="1400" spc="-10" dirty="0">
                <a:latin typeface="Arial MT"/>
                <a:cs typeface="Arial MT"/>
              </a:rPr>
              <a:t> </a:t>
            </a:r>
            <a:r>
              <a:rPr sz="1400" dirty="0">
                <a:latin typeface="Arial MT"/>
                <a:cs typeface="Arial MT"/>
              </a:rPr>
              <a:t>to</a:t>
            </a:r>
            <a:r>
              <a:rPr sz="1400" spc="-10" dirty="0">
                <a:latin typeface="Arial MT"/>
                <a:cs typeface="Arial MT"/>
              </a:rPr>
              <a:t> </a:t>
            </a:r>
            <a:r>
              <a:rPr sz="1400" dirty="0">
                <a:latin typeface="Arial MT"/>
                <a:cs typeface="Arial MT"/>
              </a:rPr>
              <a:t>be</a:t>
            </a:r>
            <a:r>
              <a:rPr sz="1400" spc="-5" dirty="0">
                <a:latin typeface="Arial MT"/>
                <a:cs typeface="Arial MT"/>
              </a:rPr>
              <a:t> </a:t>
            </a:r>
            <a:r>
              <a:rPr sz="1400" spc="-10" dirty="0">
                <a:latin typeface="Arial MT"/>
                <a:cs typeface="Arial MT"/>
              </a:rPr>
              <a:t>Integrated:</a:t>
            </a:r>
            <a:endParaRPr sz="1400">
              <a:latin typeface="Arial MT"/>
              <a:cs typeface="Arial MT"/>
            </a:endParaRPr>
          </a:p>
          <a:p>
            <a:pPr marL="469265" indent="-386080">
              <a:lnSpc>
                <a:spcPct val="100000"/>
              </a:lnSpc>
              <a:buAutoNum type="arabicParenR"/>
              <a:tabLst>
                <a:tab pos="469265" algn="l"/>
              </a:tabLst>
            </a:pPr>
            <a:r>
              <a:rPr sz="1400" dirty="0">
                <a:latin typeface="Arial MT"/>
                <a:cs typeface="Arial MT"/>
              </a:rPr>
              <a:t>Data</a:t>
            </a:r>
            <a:r>
              <a:rPr sz="1400" spc="-20" dirty="0">
                <a:latin typeface="Arial MT"/>
                <a:cs typeface="Arial MT"/>
              </a:rPr>
              <a:t> </a:t>
            </a:r>
            <a:r>
              <a:rPr sz="1400" spc="-10" dirty="0">
                <a:latin typeface="Arial MT"/>
                <a:cs typeface="Arial MT"/>
              </a:rPr>
              <a:t>Memory</a:t>
            </a:r>
            <a:endParaRPr sz="1400">
              <a:latin typeface="Arial MT"/>
              <a:cs typeface="Arial MT"/>
            </a:endParaRPr>
          </a:p>
          <a:p>
            <a:pPr marL="469265" indent="-386080">
              <a:lnSpc>
                <a:spcPct val="100000"/>
              </a:lnSpc>
              <a:buAutoNum type="arabicParenR"/>
              <a:tabLst>
                <a:tab pos="469265" algn="l"/>
              </a:tabLst>
            </a:pPr>
            <a:r>
              <a:rPr sz="1400" dirty="0">
                <a:latin typeface="Arial MT"/>
                <a:cs typeface="Arial MT"/>
              </a:rPr>
              <a:t>Memory</a:t>
            </a:r>
            <a:r>
              <a:rPr sz="1400" spc="-15" dirty="0">
                <a:latin typeface="Arial MT"/>
                <a:cs typeface="Arial MT"/>
              </a:rPr>
              <a:t> </a:t>
            </a:r>
            <a:r>
              <a:rPr sz="1400" dirty="0">
                <a:latin typeface="Arial MT"/>
                <a:cs typeface="Arial MT"/>
              </a:rPr>
              <a:t>Stage</a:t>
            </a:r>
            <a:r>
              <a:rPr sz="1400" spc="-15" dirty="0">
                <a:latin typeface="Arial MT"/>
                <a:cs typeface="Arial MT"/>
              </a:rPr>
              <a:t> </a:t>
            </a:r>
            <a:r>
              <a:rPr sz="1400" spc="-10" dirty="0">
                <a:latin typeface="Arial MT"/>
                <a:cs typeface="Arial MT"/>
              </a:rPr>
              <a:t>Registers</a:t>
            </a:r>
            <a:endParaRPr sz="1400">
              <a:latin typeface="Arial MT"/>
              <a:cs typeface="Arial MT"/>
            </a:endParaRPr>
          </a:p>
        </p:txBody>
      </p:sp>
      <p:sp>
        <p:nvSpPr>
          <p:cNvPr id="5" name="object 5"/>
          <p:cNvSpPr txBox="1"/>
          <p:nvPr/>
        </p:nvSpPr>
        <p:spPr>
          <a:xfrm>
            <a:off x="7452375" y="3659444"/>
            <a:ext cx="117475" cy="177800"/>
          </a:xfrm>
          <a:prstGeom prst="rect">
            <a:avLst/>
          </a:prstGeom>
        </p:spPr>
        <p:txBody>
          <a:bodyPr vert="horz" wrap="square" lIns="0" tIns="12700" rIns="0" bIns="0" rtlCol="0">
            <a:spAutoFit/>
          </a:bodyPr>
          <a:lstStyle/>
          <a:p>
            <a:pPr marL="12700">
              <a:lnSpc>
                <a:spcPct val="100000"/>
              </a:lnSpc>
              <a:spcBef>
                <a:spcPts val="100"/>
              </a:spcBef>
            </a:pPr>
            <a:r>
              <a:rPr sz="1000" b="1" spc="-50" dirty="0">
                <a:solidFill>
                  <a:srgbClr val="FF0000"/>
                </a:solidFill>
                <a:latin typeface="Times New Roman"/>
                <a:cs typeface="Times New Roman"/>
              </a:rPr>
              <a:t>X</a:t>
            </a:r>
            <a:endParaRPr sz="1000">
              <a:latin typeface="Times New Roman"/>
              <a:cs typeface="Times New Roman"/>
            </a:endParaRPr>
          </a:p>
        </p:txBody>
      </p:sp>
      <p:sp>
        <p:nvSpPr>
          <p:cNvPr id="6" name="object 6"/>
          <p:cNvSpPr txBox="1"/>
          <p:nvPr/>
        </p:nvSpPr>
        <p:spPr>
          <a:xfrm>
            <a:off x="7452375" y="4839270"/>
            <a:ext cx="117475" cy="177800"/>
          </a:xfrm>
          <a:prstGeom prst="rect">
            <a:avLst/>
          </a:prstGeom>
        </p:spPr>
        <p:txBody>
          <a:bodyPr vert="horz" wrap="square" lIns="0" tIns="12700" rIns="0" bIns="0" rtlCol="0">
            <a:spAutoFit/>
          </a:bodyPr>
          <a:lstStyle/>
          <a:p>
            <a:pPr marL="12700">
              <a:lnSpc>
                <a:spcPct val="100000"/>
              </a:lnSpc>
              <a:spcBef>
                <a:spcPts val="100"/>
              </a:spcBef>
            </a:pPr>
            <a:r>
              <a:rPr sz="1000" b="1" spc="-50" dirty="0">
                <a:solidFill>
                  <a:srgbClr val="FF0000"/>
                </a:solidFill>
                <a:latin typeface="Times New Roman"/>
                <a:cs typeface="Times New Roman"/>
              </a:rPr>
              <a:t>X</a:t>
            </a:r>
            <a:endParaRPr sz="1000">
              <a:latin typeface="Times New Roman"/>
              <a:cs typeface="Times New Roman"/>
            </a:endParaRPr>
          </a:p>
        </p:txBody>
      </p:sp>
      <p:sp>
        <p:nvSpPr>
          <p:cNvPr id="7" name="object 7"/>
          <p:cNvSpPr txBox="1"/>
          <p:nvPr/>
        </p:nvSpPr>
        <p:spPr>
          <a:xfrm>
            <a:off x="7479476" y="297395"/>
            <a:ext cx="117475" cy="177800"/>
          </a:xfrm>
          <a:prstGeom prst="rect">
            <a:avLst/>
          </a:prstGeom>
        </p:spPr>
        <p:txBody>
          <a:bodyPr vert="horz" wrap="square" lIns="0" tIns="12700" rIns="0" bIns="0" rtlCol="0">
            <a:spAutoFit/>
          </a:bodyPr>
          <a:lstStyle/>
          <a:p>
            <a:pPr marL="12700">
              <a:lnSpc>
                <a:spcPct val="100000"/>
              </a:lnSpc>
              <a:spcBef>
                <a:spcPts val="100"/>
              </a:spcBef>
            </a:pPr>
            <a:r>
              <a:rPr sz="1000" b="1" spc="-50" dirty="0">
                <a:solidFill>
                  <a:srgbClr val="FF0000"/>
                </a:solidFill>
                <a:latin typeface="Times New Roman"/>
                <a:cs typeface="Times New Roman"/>
              </a:rPr>
              <a:t>X</a:t>
            </a:r>
            <a:endParaRPr sz="10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65" y="1843254"/>
            <a:ext cx="5097780" cy="1244600"/>
          </a:xfrm>
          <a:prstGeom prst="rect">
            <a:avLst/>
          </a:prstGeom>
        </p:spPr>
        <p:txBody>
          <a:bodyPr vert="horz" wrap="square" lIns="0" tIns="12700" rIns="0" bIns="0" rtlCol="0">
            <a:spAutoFit/>
          </a:bodyPr>
          <a:lstStyle/>
          <a:p>
            <a:pPr marL="224790" marR="5080" indent="-212725">
              <a:lnSpc>
                <a:spcPct val="100000"/>
              </a:lnSpc>
              <a:spcBef>
                <a:spcPts val="100"/>
              </a:spcBef>
            </a:pPr>
            <a:r>
              <a:rPr sz="4000" spc="-160" dirty="0"/>
              <a:t>Implementntion</a:t>
            </a:r>
            <a:r>
              <a:rPr sz="4000" spc="-114" dirty="0"/>
              <a:t> </a:t>
            </a:r>
            <a:r>
              <a:rPr sz="4000" spc="-25" dirty="0"/>
              <a:t>of </a:t>
            </a:r>
            <a:r>
              <a:rPr sz="4000" spc="-100" dirty="0"/>
              <a:t>Write</a:t>
            </a:r>
            <a:r>
              <a:rPr sz="4000" spc="-215" dirty="0"/>
              <a:t> </a:t>
            </a:r>
            <a:r>
              <a:rPr lang="en-GB" sz="4000" spc="-125" dirty="0"/>
              <a:t>Back</a:t>
            </a:r>
            <a:r>
              <a:rPr sz="4000" spc="-215" dirty="0"/>
              <a:t> </a:t>
            </a:r>
            <a:r>
              <a:rPr sz="4000" spc="-10" dirty="0"/>
              <a:t>Cycle</a:t>
            </a:r>
            <a:endParaRPr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0" dirty="0"/>
              <a:t>Write</a:t>
            </a:r>
            <a:r>
              <a:rPr spc="-175" dirty="0"/>
              <a:t> </a:t>
            </a:r>
            <a:r>
              <a:rPr lang="en-GB" spc="-65" dirty="0"/>
              <a:t>Back</a:t>
            </a:r>
            <a:r>
              <a:rPr spc="-145" dirty="0"/>
              <a:t> </a:t>
            </a:r>
            <a:r>
              <a:rPr spc="-20" dirty="0"/>
              <a:t>Cycle</a:t>
            </a:r>
            <a:r>
              <a:rPr spc="-160" dirty="0"/>
              <a:t> </a:t>
            </a:r>
            <a:r>
              <a:rPr spc="-60" dirty="0"/>
              <a:t>D</a:t>
            </a:r>
            <a:r>
              <a:rPr lang="en-GB" spc="-60" dirty="0"/>
              <a:t>a</a:t>
            </a:r>
            <a:r>
              <a:rPr spc="-60" dirty="0"/>
              <a:t>t</a:t>
            </a:r>
            <a:r>
              <a:rPr lang="en-GB" spc="-60" dirty="0"/>
              <a:t>a</a:t>
            </a:r>
            <a:r>
              <a:rPr spc="-60" dirty="0"/>
              <a:t>p</a:t>
            </a:r>
            <a:r>
              <a:rPr lang="en-GB" spc="-60" dirty="0"/>
              <a:t>a</a:t>
            </a:r>
            <a:r>
              <a:rPr spc="-60" dirty="0" err="1"/>
              <a:t>th</a:t>
            </a:r>
            <a:endParaRPr spc="-60" dirty="0"/>
          </a:p>
        </p:txBody>
      </p:sp>
      <p:pic>
        <p:nvPicPr>
          <p:cNvPr id="3" name="object 3"/>
          <p:cNvPicPr/>
          <p:nvPr/>
        </p:nvPicPr>
        <p:blipFill>
          <a:blip r:embed="rId2" cstate="print"/>
          <a:stretch>
            <a:fillRect/>
          </a:stretch>
        </p:blipFill>
        <p:spPr>
          <a:xfrm>
            <a:off x="5893875" y="180452"/>
            <a:ext cx="1590124" cy="4901917"/>
          </a:xfrm>
          <a:prstGeom prst="rect">
            <a:avLst/>
          </a:prstGeom>
        </p:spPr>
      </p:pic>
      <p:sp>
        <p:nvSpPr>
          <p:cNvPr id="4" name="object 4"/>
          <p:cNvSpPr txBox="1"/>
          <p:nvPr/>
        </p:nvSpPr>
        <p:spPr>
          <a:xfrm>
            <a:off x="448400" y="1447687"/>
            <a:ext cx="2039620" cy="45212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Modules</a:t>
            </a:r>
            <a:r>
              <a:rPr sz="1400" spc="-10" dirty="0">
                <a:latin typeface="Arial MT"/>
                <a:cs typeface="Arial MT"/>
              </a:rPr>
              <a:t> </a:t>
            </a:r>
            <a:r>
              <a:rPr sz="1400" dirty="0">
                <a:latin typeface="Arial MT"/>
                <a:cs typeface="Arial MT"/>
              </a:rPr>
              <a:t>to</a:t>
            </a:r>
            <a:r>
              <a:rPr sz="1400" spc="-10" dirty="0">
                <a:latin typeface="Arial MT"/>
                <a:cs typeface="Arial MT"/>
              </a:rPr>
              <a:t> </a:t>
            </a:r>
            <a:r>
              <a:rPr sz="1400" dirty="0">
                <a:latin typeface="Arial MT"/>
                <a:cs typeface="Arial MT"/>
              </a:rPr>
              <a:t>be</a:t>
            </a:r>
            <a:r>
              <a:rPr sz="1400" spc="-5" dirty="0">
                <a:latin typeface="Arial MT"/>
                <a:cs typeface="Arial MT"/>
              </a:rPr>
              <a:t> </a:t>
            </a:r>
            <a:r>
              <a:rPr sz="1400" spc="-10" dirty="0">
                <a:latin typeface="Arial MT"/>
                <a:cs typeface="Arial MT"/>
              </a:rPr>
              <a:t>Integrated:</a:t>
            </a:r>
            <a:endParaRPr sz="1400">
              <a:latin typeface="Arial MT"/>
              <a:cs typeface="Arial MT"/>
            </a:endParaRPr>
          </a:p>
          <a:p>
            <a:pPr marL="83185">
              <a:lnSpc>
                <a:spcPct val="100000"/>
              </a:lnSpc>
              <a:tabLst>
                <a:tab pos="469265" algn="l"/>
              </a:tabLst>
            </a:pPr>
            <a:r>
              <a:rPr sz="1400" spc="-25" dirty="0">
                <a:latin typeface="Arial MT"/>
                <a:cs typeface="Arial MT"/>
              </a:rPr>
              <a:t>1)</a:t>
            </a:r>
            <a:r>
              <a:rPr sz="1400" dirty="0">
                <a:latin typeface="Arial MT"/>
                <a:cs typeface="Arial MT"/>
              </a:rPr>
              <a:t>	</a:t>
            </a:r>
            <a:r>
              <a:rPr sz="1400" spc="-25" dirty="0">
                <a:latin typeface="Arial MT"/>
                <a:cs typeface="Arial MT"/>
              </a:rPr>
              <a:t>Mux</a:t>
            </a:r>
            <a:endParaRPr sz="140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4983" y="2056154"/>
            <a:ext cx="4571365" cy="635000"/>
          </a:xfrm>
          <a:prstGeom prst="rect">
            <a:avLst/>
          </a:prstGeom>
        </p:spPr>
        <p:txBody>
          <a:bodyPr vert="horz" wrap="square" lIns="0" tIns="12700" rIns="0" bIns="0" rtlCol="0">
            <a:spAutoFit/>
          </a:bodyPr>
          <a:lstStyle/>
          <a:p>
            <a:pPr marL="12700">
              <a:lnSpc>
                <a:spcPct val="100000"/>
              </a:lnSpc>
              <a:spcBef>
                <a:spcPts val="100"/>
              </a:spcBef>
            </a:pPr>
            <a:r>
              <a:rPr sz="4000" spc="-85" dirty="0"/>
              <a:t>Pipeline</a:t>
            </a:r>
            <a:r>
              <a:rPr sz="4000" spc="-229" dirty="0"/>
              <a:t> </a:t>
            </a:r>
            <a:r>
              <a:rPr sz="4000" spc="-180" dirty="0"/>
              <a:t>H</a:t>
            </a:r>
            <a:r>
              <a:rPr lang="en-GB" sz="4000" spc="-180" dirty="0"/>
              <a:t>a</a:t>
            </a:r>
            <a:r>
              <a:rPr sz="4000" spc="-180" dirty="0"/>
              <a:t>z</a:t>
            </a:r>
            <a:r>
              <a:rPr lang="en-GB" sz="4000" spc="-180" dirty="0"/>
              <a:t>a</a:t>
            </a:r>
            <a:r>
              <a:rPr sz="4000" spc="-180" dirty="0" err="1"/>
              <a:t>rds</a:t>
            </a:r>
            <a:endParaRPr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83673"/>
            <a:ext cx="2714625" cy="409575"/>
          </a:xfrm>
          <a:prstGeom prst="rect">
            <a:avLst/>
          </a:prstGeom>
        </p:spPr>
        <p:txBody>
          <a:bodyPr vert="horz" wrap="square" lIns="0" tIns="15240" rIns="0" bIns="0" rtlCol="0">
            <a:spAutoFit/>
          </a:bodyPr>
          <a:lstStyle/>
          <a:p>
            <a:pPr marL="12700">
              <a:lnSpc>
                <a:spcPct val="100000"/>
              </a:lnSpc>
              <a:spcBef>
                <a:spcPts val="120"/>
              </a:spcBef>
            </a:pPr>
            <a:r>
              <a:rPr spc="-35" dirty="0"/>
              <a:t>Pipeline</a:t>
            </a:r>
            <a:r>
              <a:rPr spc="-170" dirty="0"/>
              <a:t> </a:t>
            </a:r>
            <a:r>
              <a:rPr spc="-95" dirty="0"/>
              <a:t>H</a:t>
            </a:r>
            <a:r>
              <a:rPr lang="en-GB" spc="-95" dirty="0"/>
              <a:t>a</a:t>
            </a:r>
            <a:r>
              <a:rPr spc="-95" dirty="0"/>
              <a:t>z</a:t>
            </a:r>
            <a:r>
              <a:rPr lang="en-GB" spc="-95" dirty="0"/>
              <a:t>a</a:t>
            </a:r>
            <a:r>
              <a:rPr spc="-95" dirty="0" err="1"/>
              <a:t>rd</a:t>
            </a:r>
            <a:endParaRPr spc="-95" dirty="0"/>
          </a:p>
        </p:txBody>
      </p:sp>
      <p:sp>
        <p:nvSpPr>
          <p:cNvPr id="3" name="object 3"/>
          <p:cNvSpPr txBox="1"/>
          <p:nvPr/>
        </p:nvSpPr>
        <p:spPr>
          <a:xfrm>
            <a:off x="194293" y="1329308"/>
            <a:ext cx="7776209" cy="762000"/>
          </a:xfrm>
          <a:prstGeom prst="rect">
            <a:avLst/>
          </a:prstGeom>
        </p:spPr>
        <p:txBody>
          <a:bodyPr vert="horz" wrap="square" lIns="0" tIns="44450" rIns="0" bIns="0" rtlCol="0">
            <a:spAutoFit/>
          </a:bodyPr>
          <a:lstStyle/>
          <a:p>
            <a:pPr marL="347980" indent="-335280">
              <a:lnSpc>
                <a:spcPct val="100000"/>
              </a:lnSpc>
              <a:spcBef>
                <a:spcPts val="350"/>
              </a:spcBef>
              <a:buChar char="●"/>
              <a:tabLst>
                <a:tab pos="347980" algn="l"/>
              </a:tabLst>
            </a:pPr>
            <a:r>
              <a:rPr sz="1400" b="1" i="1" dirty="0">
                <a:latin typeface="Arial"/>
                <a:cs typeface="Arial"/>
              </a:rPr>
              <a:t>Structural</a:t>
            </a:r>
            <a:r>
              <a:rPr sz="1400" b="1" i="1" spc="-50" dirty="0">
                <a:latin typeface="Arial"/>
                <a:cs typeface="Arial"/>
              </a:rPr>
              <a:t> </a:t>
            </a:r>
            <a:r>
              <a:rPr sz="1400" b="1" i="1" spc="-10" dirty="0">
                <a:latin typeface="Arial"/>
                <a:cs typeface="Arial"/>
              </a:rPr>
              <a:t>Hazard</a:t>
            </a:r>
            <a:endParaRPr sz="1400">
              <a:latin typeface="Arial"/>
              <a:cs typeface="Arial"/>
            </a:endParaRPr>
          </a:p>
          <a:p>
            <a:pPr marL="805180" lvl="1" indent="-376555">
              <a:lnSpc>
                <a:spcPct val="100000"/>
              </a:lnSpc>
              <a:spcBef>
                <a:spcPts val="254"/>
              </a:spcBef>
              <a:buAutoNum type="arabicPeriod"/>
              <a:tabLst>
                <a:tab pos="805180" algn="l"/>
              </a:tabLst>
            </a:pPr>
            <a:r>
              <a:rPr sz="1400" dirty="0">
                <a:latin typeface="Arial MT"/>
                <a:cs typeface="Arial MT"/>
              </a:rPr>
              <a:t>Hardware</a:t>
            </a:r>
            <a:r>
              <a:rPr sz="1400" spc="-35" dirty="0">
                <a:latin typeface="Arial MT"/>
                <a:cs typeface="Arial MT"/>
              </a:rPr>
              <a:t> </a:t>
            </a:r>
            <a:r>
              <a:rPr sz="1400" dirty="0">
                <a:latin typeface="Arial MT"/>
                <a:cs typeface="Arial MT"/>
              </a:rPr>
              <a:t>does</a:t>
            </a:r>
            <a:r>
              <a:rPr sz="1400" spc="-25" dirty="0">
                <a:latin typeface="Arial MT"/>
                <a:cs typeface="Arial MT"/>
              </a:rPr>
              <a:t> </a:t>
            </a:r>
            <a:r>
              <a:rPr sz="1400" dirty="0">
                <a:latin typeface="Arial MT"/>
                <a:cs typeface="Arial MT"/>
              </a:rPr>
              <a:t>not</a:t>
            </a:r>
            <a:r>
              <a:rPr sz="1400" spc="-20" dirty="0">
                <a:latin typeface="Arial MT"/>
                <a:cs typeface="Arial MT"/>
              </a:rPr>
              <a:t> </a:t>
            </a:r>
            <a:r>
              <a:rPr sz="1400" dirty="0">
                <a:latin typeface="Arial MT"/>
                <a:cs typeface="Arial MT"/>
              </a:rPr>
              <a:t>support</a:t>
            </a:r>
            <a:r>
              <a:rPr sz="1400" spc="-25" dirty="0">
                <a:latin typeface="Arial MT"/>
                <a:cs typeface="Arial MT"/>
              </a:rPr>
              <a:t> </a:t>
            </a:r>
            <a:r>
              <a:rPr sz="1400" dirty="0">
                <a:latin typeface="Arial MT"/>
                <a:cs typeface="Arial MT"/>
              </a:rPr>
              <a:t>the</a:t>
            </a:r>
            <a:r>
              <a:rPr sz="1400" spc="-25" dirty="0">
                <a:latin typeface="Arial MT"/>
                <a:cs typeface="Arial MT"/>
              </a:rPr>
              <a:t> </a:t>
            </a:r>
            <a:r>
              <a:rPr sz="1400" dirty="0">
                <a:latin typeface="Arial MT"/>
                <a:cs typeface="Arial MT"/>
              </a:rPr>
              <a:t>execution</a:t>
            </a:r>
            <a:r>
              <a:rPr sz="1400" spc="-20" dirty="0">
                <a:latin typeface="Arial MT"/>
                <a:cs typeface="Arial MT"/>
              </a:rPr>
              <a:t> </a:t>
            </a:r>
            <a:r>
              <a:rPr sz="1400" dirty="0">
                <a:latin typeface="Arial MT"/>
                <a:cs typeface="Arial MT"/>
              </a:rPr>
              <a:t>of</a:t>
            </a:r>
            <a:r>
              <a:rPr sz="1400" spc="-25" dirty="0">
                <a:latin typeface="Arial MT"/>
                <a:cs typeface="Arial MT"/>
              </a:rPr>
              <a:t> </a:t>
            </a:r>
            <a:r>
              <a:rPr sz="1400" dirty="0">
                <a:latin typeface="Arial MT"/>
                <a:cs typeface="Arial MT"/>
              </a:rPr>
              <a:t>instruction</a:t>
            </a:r>
            <a:r>
              <a:rPr sz="1400" spc="-25" dirty="0">
                <a:latin typeface="Arial MT"/>
                <a:cs typeface="Arial MT"/>
              </a:rPr>
              <a:t> </a:t>
            </a:r>
            <a:r>
              <a:rPr sz="1400" dirty="0">
                <a:latin typeface="Arial MT"/>
                <a:cs typeface="Arial MT"/>
              </a:rPr>
              <a:t>in</a:t>
            </a:r>
            <a:r>
              <a:rPr sz="1400" spc="-20" dirty="0">
                <a:latin typeface="Arial MT"/>
                <a:cs typeface="Arial MT"/>
              </a:rPr>
              <a:t> </a:t>
            </a:r>
            <a:r>
              <a:rPr sz="1400" dirty="0">
                <a:latin typeface="Arial MT"/>
                <a:cs typeface="Arial MT"/>
              </a:rPr>
              <a:t>same</a:t>
            </a:r>
            <a:r>
              <a:rPr sz="1400" spc="-25" dirty="0">
                <a:latin typeface="Arial MT"/>
                <a:cs typeface="Arial MT"/>
              </a:rPr>
              <a:t> </a:t>
            </a:r>
            <a:r>
              <a:rPr sz="1400" dirty="0">
                <a:latin typeface="Arial MT"/>
                <a:cs typeface="Arial MT"/>
              </a:rPr>
              <a:t>clock</a:t>
            </a:r>
            <a:r>
              <a:rPr sz="1400" spc="-20" dirty="0">
                <a:latin typeface="Arial MT"/>
                <a:cs typeface="Arial MT"/>
              </a:rPr>
              <a:t> </a:t>
            </a:r>
            <a:r>
              <a:rPr sz="1400" spc="-10" dirty="0">
                <a:latin typeface="Arial MT"/>
                <a:cs typeface="Arial MT"/>
              </a:rPr>
              <a:t>cycle.</a:t>
            </a:r>
            <a:endParaRPr sz="1400">
              <a:latin typeface="Arial MT"/>
              <a:cs typeface="Arial MT"/>
            </a:endParaRPr>
          </a:p>
          <a:p>
            <a:pPr marL="805180" lvl="1" indent="-376555">
              <a:lnSpc>
                <a:spcPct val="100000"/>
              </a:lnSpc>
              <a:spcBef>
                <a:spcPts val="250"/>
              </a:spcBef>
              <a:buAutoNum type="arabicPeriod"/>
              <a:tabLst>
                <a:tab pos="805180" algn="l"/>
              </a:tabLst>
            </a:pPr>
            <a:r>
              <a:rPr sz="1400" dirty="0">
                <a:latin typeface="Arial MT"/>
                <a:cs typeface="Arial MT"/>
              </a:rPr>
              <a:t>Without</a:t>
            </a:r>
            <a:r>
              <a:rPr sz="1400" spc="-40" dirty="0">
                <a:latin typeface="Arial MT"/>
                <a:cs typeface="Arial MT"/>
              </a:rPr>
              <a:t> </a:t>
            </a:r>
            <a:r>
              <a:rPr sz="1400" dirty="0">
                <a:latin typeface="Arial MT"/>
                <a:cs typeface="Arial MT"/>
              </a:rPr>
              <a:t>having</a:t>
            </a:r>
            <a:r>
              <a:rPr sz="1400" spc="-55" dirty="0">
                <a:latin typeface="Arial MT"/>
                <a:cs typeface="Arial MT"/>
              </a:rPr>
              <a:t> </a:t>
            </a:r>
            <a:r>
              <a:rPr sz="1400" dirty="0">
                <a:latin typeface="Arial MT"/>
                <a:cs typeface="Arial MT"/>
              </a:rPr>
              <a:t>Two</a:t>
            </a:r>
            <a:r>
              <a:rPr sz="1400" spc="-40" dirty="0">
                <a:latin typeface="Arial MT"/>
                <a:cs typeface="Arial MT"/>
              </a:rPr>
              <a:t> </a:t>
            </a:r>
            <a:r>
              <a:rPr sz="1400" dirty="0">
                <a:latin typeface="Arial MT"/>
                <a:cs typeface="Arial MT"/>
              </a:rPr>
              <a:t>memories</a:t>
            </a:r>
            <a:r>
              <a:rPr sz="1400" spc="-35" dirty="0">
                <a:latin typeface="Arial MT"/>
                <a:cs typeface="Arial MT"/>
              </a:rPr>
              <a:t> </a:t>
            </a:r>
            <a:r>
              <a:rPr sz="1400" spc="-20" dirty="0">
                <a:latin typeface="Arial MT"/>
                <a:cs typeface="Arial MT"/>
              </a:rPr>
              <a:t>RISC-</a:t>
            </a:r>
            <a:r>
              <a:rPr sz="1400" dirty="0">
                <a:latin typeface="Arial MT"/>
                <a:cs typeface="Arial MT"/>
              </a:rPr>
              <a:t>V</a:t>
            </a:r>
            <a:r>
              <a:rPr sz="1400" spc="-35" dirty="0">
                <a:latin typeface="Arial MT"/>
                <a:cs typeface="Arial MT"/>
              </a:rPr>
              <a:t> </a:t>
            </a:r>
            <a:r>
              <a:rPr sz="1400" dirty="0">
                <a:latin typeface="Arial MT"/>
                <a:cs typeface="Arial MT"/>
              </a:rPr>
              <a:t>pipelining</a:t>
            </a:r>
            <a:r>
              <a:rPr sz="1400" spc="-35" dirty="0">
                <a:latin typeface="Arial MT"/>
                <a:cs typeface="Arial MT"/>
              </a:rPr>
              <a:t> </a:t>
            </a:r>
            <a:r>
              <a:rPr sz="1400" dirty="0">
                <a:latin typeface="Arial MT"/>
                <a:cs typeface="Arial MT"/>
              </a:rPr>
              <a:t>architecture</a:t>
            </a:r>
            <a:r>
              <a:rPr sz="1400" spc="-35" dirty="0">
                <a:latin typeface="Arial MT"/>
                <a:cs typeface="Arial MT"/>
              </a:rPr>
              <a:t> </a:t>
            </a:r>
            <a:r>
              <a:rPr sz="1400" dirty="0">
                <a:latin typeface="Arial MT"/>
                <a:cs typeface="Arial MT"/>
              </a:rPr>
              <a:t>will</a:t>
            </a:r>
            <a:r>
              <a:rPr sz="1400" spc="-40" dirty="0">
                <a:latin typeface="Arial MT"/>
                <a:cs typeface="Arial MT"/>
              </a:rPr>
              <a:t> </a:t>
            </a:r>
            <a:r>
              <a:rPr sz="1400" dirty="0">
                <a:latin typeface="Arial MT"/>
                <a:cs typeface="Arial MT"/>
              </a:rPr>
              <a:t>have</a:t>
            </a:r>
            <a:r>
              <a:rPr sz="1400" spc="-35" dirty="0">
                <a:latin typeface="Arial MT"/>
                <a:cs typeface="Arial MT"/>
              </a:rPr>
              <a:t> </a:t>
            </a:r>
            <a:r>
              <a:rPr sz="1400" dirty="0">
                <a:latin typeface="Arial MT"/>
                <a:cs typeface="Arial MT"/>
              </a:rPr>
              <a:t>structural</a:t>
            </a:r>
            <a:r>
              <a:rPr sz="1400" spc="-35" dirty="0">
                <a:latin typeface="Arial MT"/>
                <a:cs typeface="Arial MT"/>
              </a:rPr>
              <a:t> </a:t>
            </a:r>
            <a:r>
              <a:rPr sz="1400" spc="-10" dirty="0">
                <a:latin typeface="Arial MT"/>
                <a:cs typeface="Arial MT"/>
              </a:rPr>
              <a:t>hazard.</a:t>
            </a:r>
            <a:endParaRPr sz="1400">
              <a:latin typeface="Arial MT"/>
              <a:cs typeface="Arial MT"/>
            </a:endParaRPr>
          </a:p>
        </p:txBody>
      </p:sp>
      <p:sp>
        <p:nvSpPr>
          <p:cNvPr id="4" name="object 4"/>
          <p:cNvSpPr txBox="1"/>
          <p:nvPr/>
        </p:nvSpPr>
        <p:spPr>
          <a:xfrm>
            <a:off x="194293" y="2685161"/>
            <a:ext cx="4946015" cy="1007110"/>
          </a:xfrm>
          <a:prstGeom prst="rect">
            <a:avLst/>
          </a:prstGeom>
        </p:spPr>
        <p:txBody>
          <a:bodyPr vert="horz" wrap="square" lIns="0" tIns="44450" rIns="0" bIns="0" rtlCol="0">
            <a:spAutoFit/>
          </a:bodyPr>
          <a:lstStyle/>
          <a:p>
            <a:pPr marL="347980" indent="-335280">
              <a:lnSpc>
                <a:spcPct val="100000"/>
              </a:lnSpc>
              <a:spcBef>
                <a:spcPts val="350"/>
              </a:spcBef>
              <a:buChar char="●"/>
              <a:tabLst>
                <a:tab pos="347980" algn="l"/>
              </a:tabLst>
            </a:pPr>
            <a:r>
              <a:rPr sz="1400" b="1" i="1" dirty="0">
                <a:latin typeface="Arial"/>
                <a:cs typeface="Arial"/>
              </a:rPr>
              <a:t>Data</a:t>
            </a:r>
            <a:r>
              <a:rPr sz="1400" b="1" i="1" spc="-20" dirty="0">
                <a:latin typeface="Arial"/>
                <a:cs typeface="Arial"/>
              </a:rPr>
              <a:t> </a:t>
            </a:r>
            <a:r>
              <a:rPr sz="1400" b="1" i="1" spc="-10" dirty="0">
                <a:latin typeface="Arial"/>
                <a:cs typeface="Arial"/>
              </a:rPr>
              <a:t>Hazard</a:t>
            </a:r>
            <a:endParaRPr sz="1400">
              <a:latin typeface="Arial"/>
              <a:cs typeface="Arial"/>
            </a:endParaRPr>
          </a:p>
          <a:p>
            <a:pPr marL="805180" lvl="1" indent="-376555">
              <a:lnSpc>
                <a:spcPct val="100000"/>
              </a:lnSpc>
              <a:spcBef>
                <a:spcPts val="250"/>
              </a:spcBef>
              <a:buAutoNum type="arabicPeriod"/>
              <a:tabLst>
                <a:tab pos="805180" algn="l"/>
              </a:tabLst>
            </a:pPr>
            <a:r>
              <a:rPr sz="1400" dirty="0">
                <a:latin typeface="Arial MT"/>
                <a:cs typeface="Arial MT"/>
              </a:rPr>
              <a:t>Data</a:t>
            </a:r>
            <a:r>
              <a:rPr sz="1400" spc="-20" dirty="0">
                <a:latin typeface="Arial MT"/>
                <a:cs typeface="Arial MT"/>
              </a:rPr>
              <a:t> </a:t>
            </a:r>
            <a:r>
              <a:rPr sz="1400" dirty="0">
                <a:latin typeface="Arial MT"/>
                <a:cs typeface="Arial MT"/>
              </a:rPr>
              <a:t>to</a:t>
            </a:r>
            <a:r>
              <a:rPr sz="1400" spc="-20" dirty="0">
                <a:latin typeface="Arial MT"/>
                <a:cs typeface="Arial MT"/>
              </a:rPr>
              <a:t> </a:t>
            </a:r>
            <a:r>
              <a:rPr sz="1400" dirty="0">
                <a:latin typeface="Arial MT"/>
                <a:cs typeface="Arial MT"/>
              </a:rPr>
              <a:t>be</a:t>
            </a:r>
            <a:r>
              <a:rPr sz="1400" spc="-20" dirty="0">
                <a:latin typeface="Arial MT"/>
                <a:cs typeface="Arial MT"/>
              </a:rPr>
              <a:t> </a:t>
            </a:r>
            <a:r>
              <a:rPr sz="1400" dirty="0">
                <a:latin typeface="Arial MT"/>
                <a:cs typeface="Arial MT"/>
              </a:rPr>
              <a:t>executed</a:t>
            </a:r>
            <a:r>
              <a:rPr sz="1400" spc="-15" dirty="0">
                <a:latin typeface="Arial MT"/>
                <a:cs typeface="Arial MT"/>
              </a:rPr>
              <a:t> </a:t>
            </a:r>
            <a:r>
              <a:rPr sz="1400" dirty="0">
                <a:latin typeface="Arial MT"/>
                <a:cs typeface="Arial MT"/>
              </a:rPr>
              <a:t>is</a:t>
            </a:r>
            <a:r>
              <a:rPr sz="1400" spc="-20" dirty="0">
                <a:latin typeface="Arial MT"/>
                <a:cs typeface="Arial MT"/>
              </a:rPr>
              <a:t> </a:t>
            </a:r>
            <a:r>
              <a:rPr sz="1400" dirty="0">
                <a:latin typeface="Arial MT"/>
                <a:cs typeface="Arial MT"/>
              </a:rPr>
              <a:t>not</a:t>
            </a:r>
            <a:r>
              <a:rPr sz="1400" spc="-20" dirty="0">
                <a:latin typeface="Arial MT"/>
                <a:cs typeface="Arial MT"/>
              </a:rPr>
              <a:t> </a:t>
            </a:r>
            <a:r>
              <a:rPr sz="1400" spc="-10" dirty="0">
                <a:latin typeface="Arial MT"/>
                <a:cs typeface="Arial MT"/>
              </a:rPr>
              <a:t>available.</a:t>
            </a:r>
            <a:endParaRPr sz="1400">
              <a:latin typeface="Arial MT"/>
              <a:cs typeface="Arial MT"/>
            </a:endParaRPr>
          </a:p>
          <a:p>
            <a:pPr marL="805180" lvl="1" indent="-376555">
              <a:lnSpc>
                <a:spcPct val="100000"/>
              </a:lnSpc>
              <a:spcBef>
                <a:spcPts val="254"/>
              </a:spcBef>
              <a:buAutoNum type="arabicPeriod"/>
              <a:tabLst>
                <a:tab pos="805180" algn="l"/>
              </a:tabLst>
            </a:pPr>
            <a:r>
              <a:rPr sz="1400" dirty="0">
                <a:latin typeface="Arial MT"/>
                <a:cs typeface="Arial MT"/>
              </a:rPr>
              <a:t>May</a:t>
            </a:r>
            <a:r>
              <a:rPr sz="1400" spc="-20" dirty="0">
                <a:latin typeface="Arial MT"/>
                <a:cs typeface="Arial MT"/>
              </a:rPr>
              <a:t> </a:t>
            </a:r>
            <a:r>
              <a:rPr sz="1400" dirty="0">
                <a:latin typeface="Arial MT"/>
                <a:cs typeface="Arial MT"/>
              </a:rPr>
              <a:t>occur</a:t>
            </a:r>
            <a:r>
              <a:rPr sz="1400" spc="-15" dirty="0">
                <a:latin typeface="Arial MT"/>
                <a:cs typeface="Arial MT"/>
              </a:rPr>
              <a:t> </a:t>
            </a:r>
            <a:r>
              <a:rPr sz="1400" dirty="0">
                <a:latin typeface="Arial MT"/>
                <a:cs typeface="Arial MT"/>
              </a:rPr>
              <a:t>when</a:t>
            </a:r>
            <a:r>
              <a:rPr sz="1400" spc="-20" dirty="0">
                <a:latin typeface="Arial MT"/>
                <a:cs typeface="Arial MT"/>
              </a:rPr>
              <a:t> </a:t>
            </a:r>
            <a:r>
              <a:rPr sz="1400" dirty="0">
                <a:latin typeface="Arial MT"/>
                <a:cs typeface="Arial MT"/>
              </a:rPr>
              <a:t>pipeline</a:t>
            </a:r>
            <a:r>
              <a:rPr sz="1400" spc="-15" dirty="0">
                <a:latin typeface="Arial MT"/>
                <a:cs typeface="Arial MT"/>
              </a:rPr>
              <a:t> </a:t>
            </a:r>
            <a:r>
              <a:rPr sz="1400" dirty="0">
                <a:latin typeface="Arial MT"/>
                <a:cs typeface="Arial MT"/>
              </a:rPr>
              <a:t>is</a:t>
            </a:r>
            <a:r>
              <a:rPr sz="1400" spc="-20" dirty="0">
                <a:latin typeface="Arial MT"/>
                <a:cs typeface="Arial MT"/>
              </a:rPr>
              <a:t> </a:t>
            </a:r>
            <a:r>
              <a:rPr sz="1400" spc="-10" dirty="0">
                <a:latin typeface="Arial MT"/>
                <a:cs typeface="Arial MT"/>
              </a:rPr>
              <a:t>stalled.</a:t>
            </a:r>
            <a:endParaRPr sz="1400">
              <a:latin typeface="Arial MT"/>
              <a:cs typeface="Arial MT"/>
            </a:endParaRPr>
          </a:p>
          <a:p>
            <a:pPr marL="805180" lvl="1" indent="-363220">
              <a:lnSpc>
                <a:spcPct val="100000"/>
              </a:lnSpc>
              <a:spcBef>
                <a:spcPts val="250"/>
              </a:spcBef>
              <a:buFont typeface="Calibri"/>
              <a:buAutoNum type="arabicPeriod"/>
              <a:tabLst>
                <a:tab pos="805180" algn="l"/>
              </a:tabLst>
            </a:pPr>
            <a:r>
              <a:rPr sz="1400" dirty="0">
                <a:latin typeface="Arial MT"/>
                <a:cs typeface="Arial MT"/>
              </a:rPr>
              <a:t>Solve</a:t>
            </a:r>
            <a:r>
              <a:rPr sz="1400" spc="-30" dirty="0">
                <a:latin typeface="Arial MT"/>
                <a:cs typeface="Arial MT"/>
              </a:rPr>
              <a:t> </a:t>
            </a:r>
            <a:r>
              <a:rPr sz="1400" dirty="0">
                <a:latin typeface="Arial MT"/>
                <a:cs typeface="Arial MT"/>
              </a:rPr>
              <a:t>by</a:t>
            </a:r>
            <a:r>
              <a:rPr sz="1400" spc="-25" dirty="0">
                <a:latin typeface="Arial MT"/>
                <a:cs typeface="Arial MT"/>
              </a:rPr>
              <a:t> </a:t>
            </a:r>
            <a:r>
              <a:rPr sz="1400" dirty="0">
                <a:latin typeface="Arial MT"/>
                <a:cs typeface="Arial MT"/>
              </a:rPr>
              <a:t>using</a:t>
            </a:r>
            <a:r>
              <a:rPr sz="1400" spc="-25" dirty="0">
                <a:latin typeface="Arial MT"/>
                <a:cs typeface="Arial MT"/>
              </a:rPr>
              <a:t> </a:t>
            </a:r>
            <a:r>
              <a:rPr sz="1400" b="1" dirty="0">
                <a:latin typeface="Arial"/>
                <a:cs typeface="Arial"/>
              </a:rPr>
              <a:t>forwarding</a:t>
            </a:r>
            <a:r>
              <a:rPr sz="1400" b="1" spc="-15" dirty="0">
                <a:latin typeface="Arial"/>
                <a:cs typeface="Arial"/>
              </a:rPr>
              <a:t> </a:t>
            </a:r>
            <a:r>
              <a:rPr sz="1400" dirty="0">
                <a:latin typeface="Arial MT"/>
                <a:cs typeface="Arial MT"/>
              </a:rPr>
              <a:t>or</a:t>
            </a:r>
            <a:r>
              <a:rPr sz="1400" spc="-20" dirty="0">
                <a:latin typeface="Arial MT"/>
                <a:cs typeface="Arial MT"/>
              </a:rPr>
              <a:t> </a:t>
            </a:r>
            <a:r>
              <a:rPr sz="1400" b="1" dirty="0">
                <a:latin typeface="Arial"/>
                <a:cs typeface="Arial"/>
              </a:rPr>
              <a:t>bypassing</a:t>
            </a:r>
            <a:r>
              <a:rPr sz="1400" b="1" spc="-20" dirty="0">
                <a:latin typeface="Arial"/>
                <a:cs typeface="Arial"/>
              </a:rPr>
              <a:t> </a:t>
            </a:r>
            <a:r>
              <a:rPr sz="1400" spc="-10" dirty="0">
                <a:latin typeface="Arial MT"/>
                <a:cs typeface="Arial MT"/>
              </a:rPr>
              <a:t>technique.</a:t>
            </a:r>
            <a:endParaRPr sz="140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105" dirty="0"/>
              <a:t>D</a:t>
            </a:r>
            <a:r>
              <a:rPr lang="en-GB" spc="-105" dirty="0"/>
              <a:t>a</a:t>
            </a:r>
            <a:r>
              <a:rPr spc="-105" dirty="0"/>
              <a:t>t</a:t>
            </a:r>
            <a:r>
              <a:rPr lang="en-GB" spc="-105" dirty="0"/>
              <a:t>a</a:t>
            </a:r>
            <a:r>
              <a:rPr spc="-110" dirty="0"/>
              <a:t> </a:t>
            </a:r>
            <a:r>
              <a:rPr spc="-120" dirty="0"/>
              <a:t>H</a:t>
            </a:r>
            <a:r>
              <a:rPr lang="en-GB" spc="-120" dirty="0"/>
              <a:t>a</a:t>
            </a:r>
            <a:r>
              <a:rPr spc="-120" dirty="0"/>
              <a:t>z</a:t>
            </a:r>
            <a:r>
              <a:rPr lang="en-GB" spc="-120" dirty="0"/>
              <a:t>a</a:t>
            </a:r>
            <a:r>
              <a:rPr spc="-120" dirty="0" err="1"/>
              <a:t>rd</a:t>
            </a:r>
            <a:r>
              <a:rPr spc="-110" dirty="0"/>
              <a:t> </a:t>
            </a:r>
            <a:r>
              <a:rPr spc="-270" dirty="0"/>
              <a:t>In</a:t>
            </a:r>
            <a:r>
              <a:rPr spc="-105" dirty="0"/>
              <a:t> </a:t>
            </a:r>
            <a:r>
              <a:rPr spc="-20" dirty="0"/>
              <a:t>Pipelining</a:t>
            </a:r>
          </a:p>
        </p:txBody>
      </p:sp>
      <p:pic>
        <p:nvPicPr>
          <p:cNvPr id="4" name="object 4"/>
          <p:cNvPicPr/>
          <p:nvPr/>
        </p:nvPicPr>
        <p:blipFill>
          <a:blip r:embed="rId3" cstate="print"/>
          <a:stretch>
            <a:fillRect/>
          </a:stretch>
        </p:blipFill>
        <p:spPr>
          <a:xfrm>
            <a:off x="488171" y="1170124"/>
            <a:ext cx="8167657" cy="284896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483673"/>
            <a:ext cx="4254500" cy="409575"/>
          </a:xfrm>
          <a:prstGeom prst="rect">
            <a:avLst/>
          </a:prstGeom>
        </p:spPr>
        <p:txBody>
          <a:bodyPr vert="horz" wrap="square" lIns="0" tIns="15240" rIns="0" bIns="0" rtlCol="0">
            <a:spAutoFit/>
          </a:bodyPr>
          <a:lstStyle/>
          <a:p>
            <a:pPr marL="12700">
              <a:lnSpc>
                <a:spcPct val="100000"/>
              </a:lnSpc>
              <a:spcBef>
                <a:spcPts val="120"/>
              </a:spcBef>
            </a:pPr>
            <a:r>
              <a:rPr spc="-55" dirty="0"/>
              <a:t>Solution</a:t>
            </a:r>
            <a:r>
              <a:rPr spc="-160" dirty="0"/>
              <a:t> </a:t>
            </a:r>
            <a:r>
              <a:rPr dirty="0"/>
              <a:t>of</a:t>
            </a:r>
            <a:r>
              <a:rPr spc="-185" dirty="0"/>
              <a:t> </a:t>
            </a:r>
            <a:r>
              <a:rPr spc="-105" dirty="0"/>
              <a:t>D</a:t>
            </a:r>
            <a:r>
              <a:rPr lang="en-US" spc="-105" dirty="0"/>
              <a:t>a</a:t>
            </a:r>
            <a:r>
              <a:rPr spc="-105" dirty="0"/>
              <a:t>t</a:t>
            </a:r>
            <a:r>
              <a:rPr lang="en-US" spc="-105" dirty="0"/>
              <a:t>a</a:t>
            </a:r>
            <a:r>
              <a:rPr spc="-125" dirty="0"/>
              <a:t> </a:t>
            </a:r>
            <a:r>
              <a:rPr spc="-90" dirty="0"/>
              <a:t>H</a:t>
            </a:r>
            <a:r>
              <a:rPr lang="en-US" spc="-90" dirty="0"/>
              <a:t>a</a:t>
            </a:r>
            <a:r>
              <a:rPr spc="-90" dirty="0"/>
              <a:t>z</a:t>
            </a:r>
            <a:r>
              <a:rPr lang="en-US" spc="-90" dirty="0"/>
              <a:t>a</a:t>
            </a:r>
            <a:r>
              <a:rPr spc="-90" dirty="0"/>
              <a:t>rds</a:t>
            </a:r>
          </a:p>
        </p:txBody>
      </p:sp>
      <p:sp>
        <p:nvSpPr>
          <p:cNvPr id="3" name="object 3"/>
          <p:cNvSpPr txBox="1"/>
          <p:nvPr/>
        </p:nvSpPr>
        <p:spPr>
          <a:xfrm>
            <a:off x="620749" y="1370174"/>
            <a:ext cx="4574540" cy="604520"/>
          </a:xfrm>
          <a:prstGeom prst="rect">
            <a:avLst/>
          </a:prstGeom>
        </p:spPr>
        <p:txBody>
          <a:bodyPr vert="horz" wrap="square" lIns="0" tIns="52704" rIns="0" bIns="0" rtlCol="0">
            <a:spAutoFit/>
          </a:bodyPr>
          <a:lstStyle/>
          <a:p>
            <a:pPr marL="379095" indent="-366395">
              <a:lnSpc>
                <a:spcPct val="100000"/>
              </a:lnSpc>
              <a:spcBef>
                <a:spcPts val="414"/>
              </a:spcBef>
              <a:buSzPct val="128571"/>
              <a:buChar char="●"/>
              <a:tabLst>
                <a:tab pos="379095" algn="l"/>
              </a:tabLst>
            </a:pPr>
            <a:r>
              <a:rPr sz="1400" b="1" i="1" dirty="0">
                <a:latin typeface="Arial"/>
                <a:cs typeface="Arial"/>
              </a:rPr>
              <a:t>Solving</a:t>
            </a:r>
            <a:r>
              <a:rPr sz="1400" b="1" i="1" spc="-30" dirty="0">
                <a:latin typeface="Arial"/>
                <a:cs typeface="Arial"/>
              </a:rPr>
              <a:t> </a:t>
            </a:r>
            <a:r>
              <a:rPr sz="1400" b="1" i="1" dirty="0">
                <a:latin typeface="Arial"/>
                <a:cs typeface="Arial"/>
              </a:rPr>
              <a:t>Data</a:t>
            </a:r>
            <a:r>
              <a:rPr sz="1400" b="1" i="1" spc="-25" dirty="0">
                <a:latin typeface="Arial"/>
                <a:cs typeface="Arial"/>
              </a:rPr>
              <a:t> </a:t>
            </a:r>
            <a:r>
              <a:rPr sz="1400" b="1" i="1" dirty="0">
                <a:latin typeface="Arial"/>
                <a:cs typeface="Arial"/>
              </a:rPr>
              <a:t>Hazards</a:t>
            </a:r>
            <a:r>
              <a:rPr sz="1400" b="1" i="1" spc="-30" dirty="0">
                <a:latin typeface="Arial"/>
                <a:cs typeface="Arial"/>
              </a:rPr>
              <a:t> </a:t>
            </a:r>
            <a:r>
              <a:rPr sz="1400" b="1" i="1" dirty="0">
                <a:latin typeface="Arial"/>
                <a:cs typeface="Arial"/>
              </a:rPr>
              <a:t>with</a:t>
            </a:r>
            <a:r>
              <a:rPr sz="1400" b="1" i="1" spc="-25" dirty="0">
                <a:latin typeface="Arial"/>
                <a:cs typeface="Arial"/>
              </a:rPr>
              <a:t> </a:t>
            </a:r>
            <a:r>
              <a:rPr sz="1400" b="1" i="1" spc="-20" dirty="0">
                <a:latin typeface="Arial"/>
                <a:cs typeface="Arial"/>
              </a:rPr>
              <a:t>nops</a:t>
            </a:r>
            <a:endParaRPr sz="1400">
              <a:latin typeface="Arial"/>
              <a:cs typeface="Arial"/>
            </a:endParaRPr>
          </a:p>
          <a:p>
            <a:pPr marL="379095" indent="-366395">
              <a:lnSpc>
                <a:spcPct val="100000"/>
              </a:lnSpc>
              <a:spcBef>
                <a:spcPts val="800"/>
              </a:spcBef>
              <a:buSzPct val="128571"/>
              <a:buChar char="●"/>
              <a:tabLst>
                <a:tab pos="379095" algn="l"/>
              </a:tabLst>
            </a:pPr>
            <a:r>
              <a:rPr sz="1400" b="1" i="1" dirty="0">
                <a:latin typeface="Arial"/>
                <a:cs typeface="Arial"/>
              </a:rPr>
              <a:t>Solving</a:t>
            </a:r>
            <a:r>
              <a:rPr sz="1400" b="1" i="1" spc="-30" dirty="0">
                <a:latin typeface="Arial"/>
                <a:cs typeface="Arial"/>
              </a:rPr>
              <a:t> </a:t>
            </a:r>
            <a:r>
              <a:rPr sz="1400" b="1" i="1" dirty="0">
                <a:latin typeface="Arial"/>
                <a:cs typeface="Arial"/>
              </a:rPr>
              <a:t>Data</a:t>
            </a:r>
            <a:r>
              <a:rPr sz="1400" b="1" i="1" spc="-25" dirty="0">
                <a:latin typeface="Arial"/>
                <a:cs typeface="Arial"/>
              </a:rPr>
              <a:t> </a:t>
            </a:r>
            <a:r>
              <a:rPr sz="1400" b="1" i="1" dirty="0">
                <a:latin typeface="Arial"/>
                <a:cs typeface="Arial"/>
              </a:rPr>
              <a:t>Hazard</a:t>
            </a:r>
            <a:r>
              <a:rPr sz="1400" b="1" i="1" spc="-25" dirty="0">
                <a:latin typeface="Arial"/>
                <a:cs typeface="Arial"/>
              </a:rPr>
              <a:t> </a:t>
            </a:r>
            <a:r>
              <a:rPr sz="1400" b="1" i="1" dirty="0">
                <a:latin typeface="Arial"/>
                <a:cs typeface="Arial"/>
              </a:rPr>
              <a:t>with</a:t>
            </a:r>
            <a:r>
              <a:rPr sz="1400" b="1" i="1" spc="-30" dirty="0">
                <a:latin typeface="Arial"/>
                <a:cs typeface="Arial"/>
              </a:rPr>
              <a:t> </a:t>
            </a:r>
            <a:r>
              <a:rPr sz="1400" b="1" i="1" dirty="0">
                <a:latin typeface="Arial"/>
                <a:cs typeface="Arial"/>
              </a:rPr>
              <a:t>Forwarding</a:t>
            </a:r>
            <a:r>
              <a:rPr sz="1400" b="1" i="1" spc="-25" dirty="0">
                <a:latin typeface="Arial"/>
                <a:cs typeface="Arial"/>
              </a:rPr>
              <a:t> </a:t>
            </a:r>
            <a:r>
              <a:rPr sz="1400" b="1" i="1" dirty="0">
                <a:latin typeface="Arial"/>
                <a:cs typeface="Arial"/>
              </a:rPr>
              <a:t>/</a:t>
            </a:r>
            <a:r>
              <a:rPr sz="1400" b="1" i="1" spc="-25" dirty="0">
                <a:latin typeface="Arial"/>
                <a:cs typeface="Arial"/>
              </a:rPr>
              <a:t> </a:t>
            </a:r>
            <a:r>
              <a:rPr sz="1400" b="1" i="1" spc="-10" dirty="0">
                <a:latin typeface="Arial"/>
                <a:cs typeface="Arial"/>
              </a:rPr>
              <a:t>Bypassing</a:t>
            </a:r>
            <a:endParaRPr sz="14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xfrm>
            <a:off x="384725" y="483673"/>
            <a:ext cx="1964689" cy="409575"/>
          </a:xfrm>
          <a:prstGeom prst="rect">
            <a:avLst/>
          </a:prstGeom>
        </p:spPr>
        <p:txBody>
          <a:bodyPr vert="horz" wrap="square" lIns="0" tIns="15240" rIns="0" bIns="0" rtlCol="0">
            <a:spAutoFit/>
          </a:bodyPr>
          <a:lstStyle/>
          <a:p>
            <a:pPr marL="12700">
              <a:lnSpc>
                <a:spcPct val="100000"/>
              </a:lnSpc>
              <a:spcBef>
                <a:spcPts val="120"/>
              </a:spcBef>
            </a:pPr>
            <a:r>
              <a:rPr spc="-35" dirty="0"/>
              <a:t>Using</a:t>
            </a:r>
            <a:r>
              <a:rPr spc="-165" dirty="0"/>
              <a:t> </a:t>
            </a:r>
            <a:r>
              <a:rPr spc="-45" dirty="0"/>
              <a:t>Nops</a:t>
            </a:r>
          </a:p>
        </p:txBody>
      </p:sp>
      <p:pic>
        <p:nvPicPr>
          <p:cNvPr id="4" name="object 4"/>
          <p:cNvPicPr/>
          <p:nvPr/>
        </p:nvPicPr>
        <p:blipFill>
          <a:blip r:embed="rId3" cstate="print"/>
          <a:stretch>
            <a:fillRect/>
          </a:stretch>
        </p:blipFill>
        <p:spPr>
          <a:xfrm>
            <a:off x="482820" y="1093924"/>
            <a:ext cx="8178359" cy="34931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35" dirty="0"/>
              <a:t>Using</a:t>
            </a:r>
            <a:r>
              <a:rPr spc="-150" dirty="0"/>
              <a:t> </a:t>
            </a:r>
            <a:r>
              <a:rPr spc="-70" dirty="0"/>
              <a:t>Forw</a:t>
            </a:r>
            <a:r>
              <a:rPr lang="en-US" spc="-70" dirty="0"/>
              <a:t>a</a:t>
            </a:r>
            <a:r>
              <a:rPr spc="-70" dirty="0"/>
              <a:t>rding</a:t>
            </a:r>
            <a:r>
              <a:rPr spc="-135" dirty="0"/>
              <a:t> </a:t>
            </a:r>
            <a:r>
              <a:rPr spc="-690" dirty="0"/>
              <a:t>/</a:t>
            </a:r>
            <a:r>
              <a:rPr spc="-125" dirty="0"/>
              <a:t> </a:t>
            </a:r>
            <a:r>
              <a:rPr spc="-40" dirty="0"/>
              <a:t>Byp</a:t>
            </a:r>
            <a:r>
              <a:rPr lang="en-US" spc="-40" dirty="0"/>
              <a:t>a</a:t>
            </a:r>
            <a:r>
              <a:rPr spc="-40" dirty="0"/>
              <a:t>ssing</a:t>
            </a:r>
          </a:p>
        </p:txBody>
      </p:sp>
      <p:pic>
        <p:nvPicPr>
          <p:cNvPr id="4" name="object 4"/>
          <p:cNvPicPr/>
          <p:nvPr/>
        </p:nvPicPr>
        <p:blipFill>
          <a:blip r:embed="rId3" cstate="print"/>
          <a:stretch>
            <a:fillRect/>
          </a:stretch>
        </p:blipFill>
        <p:spPr>
          <a:xfrm>
            <a:off x="381000" y="1170124"/>
            <a:ext cx="8381999" cy="288607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55" dirty="0"/>
              <a:t>Upd</a:t>
            </a:r>
            <a:r>
              <a:rPr lang="en-US" spc="-55" dirty="0"/>
              <a:t>a</a:t>
            </a:r>
            <a:r>
              <a:rPr spc="-55" dirty="0"/>
              <a:t>ted</a:t>
            </a:r>
            <a:r>
              <a:rPr spc="-125" dirty="0"/>
              <a:t> </a:t>
            </a:r>
            <a:r>
              <a:rPr spc="-35" dirty="0"/>
              <a:t>Pipeline</a:t>
            </a:r>
            <a:r>
              <a:rPr spc="-125" dirty="0"/>
              <a:t> </a:t>
            </a:r>
            <a:r>
              <a:rPr spc="-100" dirty="0"/>
              <a:t>Top</a:t>
            </a:r>
            <a:r>
              <a:rPr spc="-120" dirty="0"/>
              <a:t> </a:t>
            </a:r>
            <a:r>
              <a:rPr spc="-25" dirty="0"/>
              <a:t>Architecture</a:t>
            </a:r>
          </a:p>
        </p:txBody>
      </p:sp>
      <p:pic>
        <p:nvPicPr>
          <p:cNvPr id="4" name="object 4"/>
          <p:cNvPicPr/>
          <p:nvPr/>
        </p:nvPicPr>
        <p:blipFill>
          <a:blip r:embed="rId3" cstate="print"/>
          <a:stretch>
            <a:fillRect/>
          </a:stretch>
        </p:blipFill>
        <p:spPr>
          <a:xfrm>
            <a:off x="1196701" y="879499"/>
            <a:ext cx="6609198" cy="426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65" y="1822605"/>
            <a:ext cx="5097780" cy="1244600"/>
          </a:xfrm>
          <a:prstGeom prst="rect">
            <a:avLst/>
          </a:prstGeom>
        </p:spPr>
        <p:txBody>
          <a:bodyPr vert="horz" wrap="square" lIns="0" tIns="12700" rIns="0" bIns="0" rtlCol="0">
            <a:spAutoFit/>
          </a:bodyPr>
          <a:lstStyle/>
          <a:p>
            <a:pPr marL="951865" marR="5080" indent="-939800">
              <a:lnSpc>
                <a:spcPct val="100000"/>
              </a:lnSpc>
              <a:spcBef>
                <a:spcPts val="100"/>
              </a:spcBef>
            </a:pPr>
            <a:r>
              <a:rPr sz="4000" spc="-160" dirty="0"/>
              <a:t>Implementntion</a:t>
            </a:r>
            <a:r>
              <a:rPr sz="4000" spc="-114" dirty="0"/>
              <a:t> </a:t>
            </a:r>
            <a:r>
              <a:rPr sz="4000" spc="-25" dirty="0"/>
              <a:t>of </a:t>
            </a:r>
            <a:r>
              <a:rPr sz="4000" spc="-220" dirty="0"/>
              <a:t>H</a:t>
            </a:r>
            <a:r>
              <a:rPr lang="en-GB" sz="4000" spc="-220" dirty="0"/>
              <a:t>a</a:t>
            </a:r>
            <a:r>
              <a:rPr lang="en-US" sz="4000" spc="-220" dirty="0" err="1"/>
              <a:t>za</a:t>
            </a:r>
            <a:r>
              <a:rPr sz="4000" spc="-220" dirty="0" err="1"/>
              <a:t>rd</a:t>
            </a:r>
            <a:r>
              <a:rPr sz="4000" spc="-155" dirty="0"/>
              <a:t> </a:t>
            </a:r>
            <a:r>
              <a:rPr sz="4000" spc="-20" dirty="0"/>
              <a:t>Unit</a:t>
            </a:r>
            <a:endParaRPr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xfrm>
            <a:off x="384725" y="483673"/>
            <a:ext cx="2714625" cy="409575"/>
          </a:xfrm>
          <a:prstGeom prst="rect">
            <a:avLst/>
          </a:prstGeom>
        </p:spPr>
        <p:txBody>
          <a:bodyPr vert="horz" wrap="square" lIns="0" tIns="15240" rIns="0" bIns="0" rtlCol="0">
            <a:spAutoFit/>
          </a:bodyPr>
          <a:lstStyle/>
          <a:p>
            <a:pPr marL="12700">
              <a:lnSpc>
                <a:spcPct val="100000"/>
              </a:lnSpc>
              <a:spcBef>
                <a:spcPts val="120"/>
              </a:spcBef>
            </a:pPr>
            <a:r>
              <a:rPr spc="-30" dirty="0"/>
              <a:t>Condition</a:t>
            </a:r>
            <a:r>
              <a:rPr spc="-165" dirty="0"/>
              <a:t> </a:t>
            </a:r>
            <a:r>
              <a:rPr spc="-70" dirty="0"/>
              <a:t>Tnble</a:t>
            </a:r>
          </a:p>
        </p:txBody>
      </p:sp>
      <p:pic>
        <p:nvPicPr>
          <p:cNvPr id="4" name="object 4"/>
          <p:cNvPicPr/>
          <p:nvPr/>
        </p:nvPicPr>
        <p:blipFill>
          <a:blip r:embed="rId3" cstate="print"/>
          <a:stretch>
            <a:fillRect/>
          </a:stretch>
        </p:blipFill>
        <p:spPr>
          <a:xfrm>
            <a:off x="319087" y="1138237"/>
            <a:ext cx="8505824" cy="256222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30" dirty="0"/>
              <a:t>Condition</a:t>
            </a:r>
            <a:r>
              <a:rPr spc="-160" dirty="0"/>
              <a:t> </a:t>
            </a:r>
            <a:r>
              <a:rPr spc="-70" dirty="0"/>
              <a:t>for</a:t>
            </a:r>
            <a:r>
              <a:rPr spc="-135" dirty="0"/>
              <a:t> </a:t>
            </a:r>
            <a:r>
              <a:rPr spc="-105" dirty="0"/>
              <a:t>D</a:t>
            </a:r>
            <a:r>
              <a:rPr lang="en-GB" spc="-105" dirty="0"/>
              <a:t>a</a:t>
            </a:r>
            <a:r>
              <a:rPr spc="-105" dirty="0"/>
              <a:t>t</a:t>
            </a:r>
            <a:r>
              <a:rPr lang="en-GB" spc="-105" dirty="0"/>
              <a:t>a</a:t>
            </a:r>
            <a:r>
              <a:rPr spc="-125" dirty="0"/>
              <a:t> </a:t>
            </a:r>
            <a:r>
              <a:rPr spc="-80" dirty="0"/>
              <a:t>H</a:t>
            </a:r>
            <a:r>
              <a:rPr lang="en-GB" spc="-80" dirty="0"/>
              <a:t>a</a:t>
            </a:r>
            <a:r>
              <a:rPr spc="-80" dirty="0"/>
              <a:t>z</a:t>
            </a:r>
            <a:r>
              <a:rPr lang="en-GB" spc="-80" dirty="0"/>
              <a:t>a</a:t>
            </a:r>
            <a:r>
              <a:rPr spc="-80" dirty="0" err="1"/>
              <a:t>rd</a:t>
            </a:r>
            <a:endParaRPr spc="-80" dirty="0"/>
          </a:p>
        </p:txBody>
      </p:sp>
      <p:sp>
        <p:nvSpPr>
          <p:cNvPr id="3" name="object 3"/>
          <p:cNvSpPr txBox="1"/>
          <p:nvPr/>
        </p:nvSpPr>
        <p:spPr>
          <a:xfrm>
            <a:off x="225250" y="1276698"/>
            <a:ext cx="4035425" cy="1511300"/>
          </a:xfrm>
          <a:prstGeom prst="rect">
            <a:avLst/>
          </a:prstGeom>
        </p:spPr>
        <p:txBody>
          <a:bodyPr vert="horz" wrap="square" lIns="0" tIns="46990" rIns="0" bIns="0" rtlCol="0">
            <a:spAutoFit/>
          </a:bodyPr>
          <a:lstStyle/>
          <a:p>
            <a:pPr marL="34925" algn="ctr">
              <a:lnSpc>
                <a:spcPct val="100000"/>
              </a:lnSpc>
              <a:spcBef>
                <a:spcPts val="370"/>
              </a:spcBef>
            </a:pPr>
            <a:r>
              <a:rPr sz="1400" b="1" dirty="0">
                <a:latin typeface="Arial"/>
                <a:cs typeface="Arial"/>
              </a:rPr>
              <a:t>Memory</a:t>
            </a:r>
            <a:r>
              <a:rPr sz="1400" b="1" spc="-30" dirty="0">
                <a:latin typeface="Arial"/>
                <a:cs typeface="Arial"/>
              </a:rPr>
              <a:t> </a:t>
            </a:r>
            <a:r>
              <a:rPr sz="1400" b="1" spc="-10" dirty="0">
                <a:latin typeface="Arial"/>
                <a:cs typeface="Arial"/>
              </a:rPr>
              <a:t>Stage</a:t>
            </a:r>
            <a:endParaRPr sz="1400">
              <a:latin typeface="Arial"/>
              <a:cs typeface="Arial"/>
            </a:endParaRPr>
          </a:p>
          <a:p>
            <a:pPr marL="12700">
              <a:lnSpc>
                <a:spcPct val="100000"/>
              </a:lnSpc>
              <a:spcBef>
                <a:spcPts val="270"/>
              </a:spcBef>
            </a:pPr>
            <a:r>
              <a:rPr sz="1400" dirty="0">
                <a:latin typeface="Arial MT"/>
                <a:cs typeface="Arial MT"/>
              </a:rPr>
              <a:t>if</a:t>
            </a:r>
            <a:r>
              <a:rPr sz="1400" spc="-15" dirty="0">
                <a:latin typeface="Arial MT"/>
                <a:cs typeface="Arial MT"/>
              </a:rPr>
              <a:t> </a:t>
            </a:r>
            <a:r>
              <a:rPr sz="1400" dirty="0">
                <a:latin typeface="Arial MT"/>
                <a:cs typeface="Arial MT"/>
              </a:rPr>
              <a:t>(RegWriteM</a:t>
            </a:r>
            <a:r>
              <a:rPr sz="1400" spc="-15" dirty="0">
                <a:latin typeface="Arial MT"/>
                <a:cs typeface="Arial MT"/>
              </a:rPr>
              <a:t> </a:t>
            </a:r>
            <a:r>
              <a:rPr sz="1400" dirty="0">
                <a:latin typeface="Arial MT"/>
                <a:cs typeface="Arial MT"/>
              </a:rPr>
              <a:t>and</a:t>
            </a:r>
            <a:r>
              <a:rPr sz="1400" spc="-15" dirty="0">
                <a:latin typeface="Arial MT"/>
                <a:cs typeface="Arial MT"/>
              </a:rPr>
              <a:t> </a:t>
            </a:r>
            <a:r>
              <a:rPr sz="1400" dirty="0">
                <a:latin typeface="Arial MT"/>
                <a:cs typeface="Arial MT"/>
              </a:rPr>
              <a:t>(RdM</a:t>
            </a:r>
            <a:r>
              <a:rPr sz="1400" spc="-15" dirty="0">
                <a:latin typeface="Arial MT"/>
                <a:cs typeface="Arial MT"/>
              </a:rPr>
              <a:t> </a:t>
            </a:r>
            <a:r>
              <a:rPr sz="1400" dirty="0">
                <a:latin typeface="Arial MT"/>
                <a:cs typeface="Arial MT"/>
              </a:rPr>
              <a:t>!=</a:t>
            </a:r>
            <a:r>
              <a:rPr sz="1400" spc="-15" dirty="0">
                <a:latin typeface="Arial MT"/>
                <a:cs typeface="Arial MT"/>
              </a:rPr>
              <a:t> </a:t>
            </a:r>
            <a:r>
              <a:rPr sz="1400" dirty="0">
                <a:latin typeface="Arial MT"/>
                <a:cs typeface="Arial MT"/>
              </a:rPr>
              <a:t>0)</a:t>
            </a:r>
            <a:r>
              <a:rPr sz="1400" spc="-15" dirty="0">
                <a:latin typeface="Arial MT"/>
                <a:cs typeface="Arial MT"/>
              </a:rPr>
              <a:t> </a:t>
            </a:r>
            <a:r>
              <a:rPr sz="1400" dirty="0">
                <a:latin typeface="Arial MT"/>
                <a:cs typeface="Arial MT"/>
              </a:rPr>
              <a:t>and</a:t>
            </a:r>
            <a:r>
              <a:rPr sz="1400" spc="-15" dirty="0">
                <a:latin typeface="Arial MT"/>
                <a:cs typeface="Arial MT"/>
              </a:rPr>
              <a:t> </a:t>
            </a:r>
            <a:r>
              <a:rPr sz="1400" dirty="0">
                <a:latin typeface="Arial MT"/>
                <a:cs typeface="Arial MT"/>
              </a:rPr>
              <a:t>(RdM</a:t>
            </a:r>
            <a:r>
              <a:rPr sz="1400" spc="-15" dirty="0">
                <a:latin typeface="Arial MT"/>
                <a:cs typeface="Arial MT"/>
              </a:rPr>
              <a:t> </a:t>
            </a:r>
            <a:r>
              <a:rPr sz="1400" dirty="0">
                <a:latin typeface="Arial MT"/>
                <a:cs typeface="Arial MT"/>
              </a:rPr>
              <a:t>==</a:t>
            </a:r>
            <a:r>
              <a:rPr sz="1400" spc="-10" dirty="0">
                <a:latin typeface="Arial MT"/>
                <a:cs typeface="Arial MT"/>
              </a:rPr>
              <a:t> Rs1E))</a:t>
            </a:r>
            <a:endParaRPr sz="1400">
              <a:latin typeface="Arial MT"/>
              <a:cs typeface="Arial MT"/>
            </a:endParaRPr>
          </a:p>
          <a:p>
            <a:pPr marL="469900">
              <a:lnSpc>
                <a:spcPct val="100000"/>
              </a:lnSpc>
              <a:spcBef>
                <a:spcPts val="270"/>
              </a:spcBef>
            </a:pPr>
            <a:r>
              <a:rPr sz="1400" dirty="0">
                <a:latin typeface="Arial MT"/>
                <a:cs typeface="Arial MT"/>
              </a:rPr>
              <a:t>ForwardAE</a:t>
            </a:r>
            <a:r>
              <a:rPr sz="1400" spc="-25" dirty="0">
                <a:latin typeface="Arial MT"/>
                <a:cs typeface="Arial MT"/>
              </a:rPr>
              <a:t> </a:t>
            </a:r>
            <a:r>
              <a:rPr sz="1400" dirty="0">
                <a:latin typeface="Arial MT"/>
                <a:cs typeface="Arial MT"/>
              </a:rPr>
              <a:t>=</a:t>
            </a:r>
            <a:r>
              <a:rPr sz="1400" spc="-25" dirty="0">
                <a:latin typeface="Arial MT"/>
                <a:cs typeface="Arial MT"/>
              </a:rPr>
              <a:t> 10</a:t>
            </a:r>
            <a:endParaRPr sz="1400">
              <a:latin typeface="Arial MT"/>
              <a:cs typeface="Arial MT"/>
            </a:endParaRPr>
          </a:p>
          <a:p>
            <a:pPr>
              <a:lnSpc>
                <a:spcPct val="100000"/>
              </a:lnSpc>
              <a:spcBef>
                <a:spcPts val="335"/>
              </a:spcBef>
            </a:pPr>
            <a:endParaRPr sz="1400">
              <a:latin typeface="Arial MT"/>
              <a:cs typeface="Arial MT"/>
            </a:endParaRPr>
          </a:p>
          <a:p>
            <a:pPr marL="469900" marR="5080" indent="-457200">
              <a:lnSpc>
                <a:spcPct val="116100"/>
              </a:lnSpc>
              <a:spcBef>
                <a:spcPts val="5"/>
              </a:spcBef>
            </a:pPr>
            <a:r>
              <a:rPr sz="1400" dirty="0">
                <a:latin typeface="Arial MT"/>
                <a:cs typeface="Arial MT"/>
              </a:rPr>
              <a:t>if</a:t>
            </a:r>
            <a:r>
              <a:rPr sz="1400" spc="-15" dirty="0">
                <a:latin typeface="Arial MT"/>
                <a:cs typeface="Arial MT"/>
              </a:rPr>
              <a:t> </a:t>
            </a:r>
            <a:r>
              <a:rPr sz="1400" dirty="0">
                <a:latin typeface="Arial MT"/>
                <a:cs typeface="Arial MT"/>
              </a:rPr>
              <a:t>(RegWriteM</a:t>
            </a:r>
            <a:r>
              <a:rPr sz="1400" spc="-15" dirty="0">
                <a:latin typeface="Arial MT"/>
                <a:cs typeface="Arial MT"/>
              </a:rPr>
              <a:t> </a:t>
            </a:r>
            <a:r>
              <a:rPr sz="1400" dirty="0">
                <a:latin typeface="Arial MT"/>
                <a:cs typeface="Arial MT"/>
              </a:rPr>
              <a:t>and</a:t>
            </a:r>
            <a:r>
              <a:rPr sz="1400" spc="-15" dirty="0">
                <a:latin typeface="Arial MT"/>
                <a:cs typeface="Arial MT"/>
              </a:rPr>
              <a:t> </a:t>
            </a:r>
            <a:r>
              <a:rPr sz="1400" dirty="0">
                <a:latin typeface="Arial MT"/>
                <a:cs typeface="Arial MT"/>
              </a:rPr>
              <a:t>(RdM</a:t>
            </a:r>
            <a:r>
              <a:rPr sz="1400" spc="-15" dirty="0">
                <a:latin typeface="Arial MT"/>
                <a:cs typeface="Arial MT"/>
              </a:rPr>
              <a:t> </a:t>
            </a:r>
            <a:r>
              <a:rPr sz="1400" dirty="0">
                <a:latin typeface="Arial MT"/>
                <a:cs typeface="Arial MT"/>
              </a:rPr>
              <a:t>!=</a:t>
            </a:r>
            <a:r>
              <a:rPr sz="1400" spc="-15" dirty="0">
                <a:latin typeface="Arial MT"/>
                <a:cs typeface="Arial MT"/>
              </a:rPr>
              <a:t> </a:t>
            </a:r>
            <a:r>
              <a:rPr sz="1400" dirty="0">
                <a:latin typeface="Arial MT"/>
                <a:cs typeface="Arial MT"/>
              </a:rPr>
              <a:t>0)</a:t>
            </a:r>
            <a:r>
              <a:rPr sz="1400" spc="-15" dirty="0">
                <a:latin typeface="Arial MT"/>
                <a:cs typeface="Arial MT"/>
              </a:rPr>
              <a:t> </a:t>
            </a:r>
            <a:r>
              <a:rPr sz="1400" dirty="0">
                <a:latin typeface="Arial MT"/>
                <a:cs typeface="Arial MT"/>
              </a:rPr>
              <a:t>and</a:t>
            </a:r>
            <a:r>
              <a:rPr sz="1400" spc="-15" dirty="0">
                <a:latin typeface="Arial MT"/>
                <a:cs typeface="Arial MT"/>
              </a:rPr>
              <a:t> </a:t>
            </a:r>
            <a:r>
              <a:rPr sz="1400" dirty="0">
                <a:latin typeface="Arial MT"/>
                <a:cs typeface="Arial MT"/>
              </a:rPr>
              <a:t>(RdM</a:t>
            </a:r>
            <a:r>
              <a:rPr sz="1400" spc="-15" dirty="0">
                <a:latin typeface="Arial MT"/>
                <a:cs typeface="Arial MT"/>
              </a:rPr>
              <a:t> </a:t>
            </a:r>
            <a:r>
              <a:rPr sz="1400" dirty="0">
                <a:latin typeface="Arial MT"/>
                <a:cs typeface="Arial MT"/>
              </a:rPr>
              <a:t>==</a:t>
            </a:r>
            <a:r>
              <a:rPr sz="1400" spc="-10" dirty="0">
                <a:latin typeface="Arial MT"/>
                <a:cs typeface="Arial MT"/>
              </a:rPr>
              <a:t> Rs2E)) </a:t>
            </a:r>
            <a:r>
              <a:rPr sz="1400" dirty="0">
                <a:latin typeface="Arial MT"/>
                <a:cs typeface="Arial MT"/>
              </a:rPr>
              <a:t>ForwardBE</a:t>
            </a:r>
            <a:r>
              <a:rPr sz="1400" spc="-25" dirty="0">
                <a:latin typeface="Arial MT"/>
                <a:cs typeface="Arial MT"/>
              </a:rPr>
              <a:t> </a:t>
            </a:r>
            <a:r>
              <a:rPr sz="1400" dirty="0">
                <a:latin typeface="Arial MT"/>
                <a:cs typeface="Arial MT"/>
              </a:rPr>
              <a:t>=</a:t>
            </a:r>
            <a:r>
              <a:rPr sz="1400" spc="-25" dirty="0">
                <a:latin typeface="Arial MT"/>
                <a:cs typeface="Arial MT"/>
              </a:rPr>
              <a:t> 10</a:t>
            </a:r>
            <a:endParaRPr sz="1400">
              <a:latin typeface="Arial MT"/>
              <a:cs typeface="Arial MT"/>
            </a:endParaRPr>
          </a:p>
        </p:txBody>
      </p:sp>
      <p:sp>
        <p:nvSpPr>
          <p:cNvPr id="4" name="object 4"/>
          <p:cNvSpPr txBox="1"/>
          <p:nvPr/>
        </p:nvSpPr>
        <p:spPr>
          <a:xfrm>
            <a:off x="4720425" y="1262447"/>
            <a:ext cx="4093210" cy="1511300"/>
          </a:xfrm>
          <a:prstGeom prst="rect">
            <a:avLst/>
          </a:prstGeom>
        </p:spPr>
        <p:txBody>
          <a:bodyPr vert="horz" wrap="square" lIns="0" tIns="46990" rIns="0" bIns="0" rtlCol="0">
            <a:spAutoFit/>
          </a:bodyPr>
          <a:lstStyle/>
          <a:p>
            <a:pPr marL="130175" algn="ctr">
              <a:lnSpc>
                <a:spcPct val="100000"/>
              </a:lnSpc>
              <a:spcBef>
                <a:spcPts val="370"/>
              </a:spcBef>
            </a:pPr>
            <a:r>
              <a:rPr sz="1400" b="1" i="1" dirty="0">
                <a:latin typeface="Arial"/>
                <a:cs typeface="Arial"/>
              </a:rPr>
              <a:t>WriteBack</a:t>
            </a:r>
            <a:r>
              <a:rPr sz="1400" b="1" i="1" spc="-85" dirty="0">
                <a:latin typeface="Arial"/>
                <a:cs typeface="Arial"/>
              </a:rPr>
              <a:t> </a:t>
            </a:r>
            <a:r>
              <a:rPr sz="1400" b="1" i="1" spc="-10" dirty="0">
                <a:latin typeface="Arial"/>
                <a:cs typeface="Arial"/>
              </a:rPr>
              <a:t>Stage</a:t>
            </a:r>
            <a:endParaRPr sz="1400">
              <a:latin typeface="Arial"/>
              <a:cs typeface="Arial"/>
            </a:endParaRPr>
          </a:p>
          <a:p>
            <a:pPr marL="12700">
              <a:lnSpc>
                <a:spcPct val="100000"/>
              </a:lnSpc>
              <a:spcBef>
                <a:spcPts val="270"/>
              </a:spcBef>
            </a:pPr>
            <a:r>
              <a:rPr sz="1400" dirty="0">
                <a:latin typeface="Arial MT"/>
                <a:cs typeface="Arial MT"/>
              </a:rPr>
              <a:t>if</a:t>
            </a:r>
            <a:r>
              <a:rPr sz="1400" spc="-30" dirty="0">
                <a:latin typeface="Arial MT"/>
                <a:cs typeface="Arial MT"/>
              </a:rPr>
              <a:t> </a:t>
            </a:r>
            <a:r>
              <a:rPr sz="1400" dirty="0">
                <a:latin typeface="Arial MT"/>
                <a:cs typeface="Arial MT"/>
              </a:rPr>
              <a:t>(RegWriteW</a:t>
            </a:r>
            <a:r>
              <a:rPr sz="1400" spc="-20"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(RdW</a:t>
            </a:r>
            <a:r>
              <a:rPr sz="1400" spc="-20" dirty="0">
                <a:latin typeface="Arial MT"/>
                <a:cs typeface="Arial MT"/>
              </a:rPr>
              <a:t> </a:t>
            </a:r>
            <a:r>
              <a:rPr sz="1400" dirty="0">
                <a:latin typeface="Arial MT"/>
                <a:cs typeface="Arial MT"/>
              </a:rPr>
              <a:t>!=</a:t>
            </a:r>
            <a:r>
              <a:rPr sz="1400" spc="-20" dirty="0">
                <a:latin typeface="Arial MT"/>
                <a:cs typeface="Arial MT"/>
              </a:rPr>
              <a:t> </a:t>
            </a:r>
            <a:r>
              <a:rPr sz="1400" dirty="0">
                <a:latin typeface="Arial MT"/>
                <a:cs typeface="Arial MT"/>
              </a:rPr>
              <a:t>0)</a:t>
            </a:r>
            <a:r>
              <a:rPr sz="1400" spc="-20"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(RdW</a:t>
            </a:r>
            <a:r>
              <a:rPr sz="1400" spc="-20" dirty="0">
                <a:latin typeface="Arial MT"/>
                <a:cs typeface="Arial MT"/>
              </a:rPr>
              <a:t> </a:t>
            </a:r>
            <a:r>
              <a:rPr sz="1400" dirty="0">
                <a:latin typeface="Arial MT"/>
                <a:cs typeface="Arial MT"/>
              </a:rPr>
              <a:t>==</a:t>
            </a:r>
            <a:r>
              <a:rPr sz="1400" spc="-20" dirty="0">
                <a:latin typeface="Arial MT"/>
                <a:cs typeface="Arial MT"/>
              </a:rPr>
              <a:t> </a:t>
            </a:r>
            <a:r>
              <a:rPr sz="1400" spc="-10" dirty="0">
                <a:latin typeface="Arial MT"/>
                <a:cs typeface="Arial MT"/>
              </a:rPr>
              <a:t>Rs1E))</a:t>
            </a:r>
            <a:endParaRPr sz="1400">
              <a:latin typeface="Arial MT"/>
              <a:cs typeface="Arial MT"/>
            </a:endParaRPr>
          </a:p>
          <a:p>
            <a:pPr marL="469900">
              <a:lnSpc>
                <a:spcPct val="100000"/>
              </a:lnSpc>
              <a:spcBef>
                <a:spcPts val="270"/>
              </a:spcBef>
            </a:pPr>
            <a:r>
              <a:rPr sz="1400" dirty="0">
                <a:latin typeface="Arial MT"/>
                <a:cs typeface="Arial MT"/>
              </a:rPr>
              <a:t>ForwardAE</a:t>
            </a:r>
            <a:r>
              <a:rPr sz="1400" spc="-25" dirty="0">
                <a:latin typeface="Arial MT"/>
                <a:cs typeface="Arial MT"/>
              </a:rPr>
              <a:t> </a:t>
            </a:r>
            <a:r>
              <a:rPr sz="1400" dirty="0">
                <a:latin typeface="Arial MT"/>
                <a:cs typeface="Arial MT"/>
              </a:rPr>
              <a:t>=</a:t>
            </a:r>
            <a:r>
              <a:rPr sz="1400" spc="-25" dirty="0">
                <a:latin typeface="Arial MT"/>
                <a:cs typeface="Arial MT"/>
              </a:rPr>
              <a:t> 01</a:t>
            </a:r>
            <a:endParaRPr sz="1400">
              <a:latin typeface="Arial MT"/>
              <a:cs typeface="Arial MT"/>
            </a:endParaRPr>
          </a:p>
          <a:p>
            <a:pPr>
              <a:lnSpc>
                <a:spcPct val="100000"/>
              </a:lnSpc>
              <a:spcBef>
                <a:spcPts val="335"/>
              </a:spcBef>
            </a:pPr>
            <a:endParaRPr sz="1400">
              <a:latin typeface="Arial MT"/>
              <a:cs typeface="Arial MT"/>
            </a:endParaRPr>
          </a:p>
          <a:p>
            <a:pPr marL="469900" marR="5080" indent="-457200">
              <a:lnSpc>
                <a:spcPct val="116100"/>
              </a:lnSpc>
              <a:spcBef>
                <a:spcPts val="5"/>
              </a:spcBef>
            </a:pPr>
            <a:r>
              <a:rPr sz="1400" dirty="0">
                <a:latin typeface="Arial MT"/>
                <a:cs typeface="Arial MT"/>
              </a:rPr>
              <a:t>if</a:t>
            </a:r>
            <a:r>
              <a:rPr sz="1400" spc="-30" dirty="0">
                <a:latin typeface="Arial MT"/>
                <a:cs typeface="Arial MT"/>
              </a:rPr>
              <a:t> </a:t>
            </a:r>
            <a:r>
              <a:rPr sz="1400" dirty="0">
                <a:latin typeface="Arial MT"/>
                <a:cs typeface="Arial MT"/>
              </a:rPr>
              <a:t>(RegWriteW</a:t>
            </a:r>
            <a:r>
              <a:rPr sz="1400" spc="-20"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(RdW</a:t>
            </a:r>
            <a:r>
              <a:rPr sz="1400" spc="-20" dirty="0">
                <a:latin typeface="Arial MT"/>
                <a:cs typeface="Arial MT"/>
              </a:rPr>
              <a:t> </a:t>
            </a:r>
            <a:r>
              <a:rPr sz="1400" dirty="0">
                <a:latin typeface="Arial MT"/>
                <a:cs typeface="Arial MT"/>
              </a:rPr>
              <a:t>!=</a:t>
            </a:r>
            <a:r>
              <a:rPr sz="1400" spc="-20" dirty="0">
                <a:latin typeface="Arial MT"/>
                <a:cs typeface="Arial MT"/>
              </a:rPr>
              <a:t> </a:t>
            </a:r>
            <a:r>
              <a:rPr sz="1400" dirty="0">
                <a:latin typeface="Arial MT"/>
                <a:cs typeface="Arial MT"/>
              </a:rPr>
              <a:t>0)</a:t>
            </a:r>
            <a:r>
              <a:rPr sz="1400" spc="-20"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(RdW</a:t>
            </a:r>
            <a:r>
              <a:rPr sz="1400" spc="-20" dirty="0">
                <a:latin typeface="Arial MT"/>
                <a:cs typeface="Arial MT"/>
              </a:rPr>
              <a:t> </a:t>
            </a:r>
            <a:r>
              <a:rPr sz="1400" dirty="0">
                <a:latin typeface="Arial MT"/>
                <a:cs typeface="Arial MT"/>
              </a:rPr>
              <a:t>==</a:t>
            </a:r>
            <a:r>
              <a:rPr sz="1400" spc="-20" dirty="0">
                <a:latin typeface="Arial MT"/>
                <a:cs typeface="Arial MT"/>
              </a:rPr>
              <a:t> </a:t>
            </a:r>
            <a:r>
              <a:rPr sz="1400" spc="-10" dirty="0">
                <a:latin typeface="Arial MT"/>
                <a:cs typeface="Arial MT"/>
              </a:rPr>
              <a:t>Rs2E)) </a:t>
            </a:r>
            <a:r>
              <a:rPr sz="1400" dirty="0">
                <a:latin typeface="Arial MT"/>
                <a:cs typeface="Arial MT"/>
              </a:rPr>
              <a:t>ForwardBE</a:t>
            </a:r>
            <a:r>
              <a:rPr sz="1400" spc="-25" dirty="0">
                <a:latin typeface="Arial MT"/>
                <a:cs typeface="Arial MT"/>
              </a:rPr>
              <a:t> </a:t>
            </a:r>
            <a:r>
              <a:rPr sz="1400" dirty="0">
                <a:latin typeface="Arial MT"/>
                <a:cs typeface="Arial MT"/>
              </a:rPr>
              <a:t>=</a:t>
            </a:r>
            <a:r>
              <a:rPr sz="1400" spc="-25" dirty="0">
                <a:latin typeface="Arial MT"/>
                <a:cs typeface="Arial MT"/>
              </a:rPr>
              <a:t> 01</a:t>
            </a:r>
            <a:endParaRPr sz="1400">
              <a:latin typeface="Arial MT"/>
              <a:cs typeface="Arial MT"/>
            </a:endParaRPr>
          </a:p>
        </p:txBody>
      </p:sp>
      <p:pic>
        <p:nvPicPr>
          <p:cNvPr id="5" name="object 5"/>
          <p:cNvPicPr/>
          <p:nvPr/>
        </p:nvPicPr>
        <p:blipFill>
          <a:blip r:embed="rId2" cstate="print"/>
          <a:stretch>
            <a:fillRect/>
          </a:stretch>
        </p:blipFill>
        <p:spPr>
          <a:xfrm>
            <a:off x="1267400" y="4050425"/>
            <a:ext cx="6609200" cy="742824"/>
          </a:xfrm>
          <a:prstGeom prst="rect">
            <a:avLst/>
          </a:prstGeom>
        </p:spPr>
      </p:pic>
      <p:sp>
        <p:nvSpPr>
          <p:cNvPr id="6" name="object 6"/>
          <p:cNvSpPr txBox="1"/>
          <p:nvPr/>
        </p:nvSpPr>
        <p:spPr>
          <a:xfrm>
            <a:off x="6899200" y="3306116"/>
            <a:ext cx="654685" cy="671830"/>
          </a:xfrm>
          <a:prstGeom prst="rect">
            <a:avLst/>
          </a:prstGeom>
        </p:spPr>
        <p:txBody>
          <a:bodyPr vert="vert270" wrap="square" lIns="0" tIns="635" rIns="0" bIns="0" rtlCol="0">
            <a:spAutoFit/>
          </a:bodyPr>
          <a:lstStyle/>
          <a:p>
            <a:pPr marL="12700">
              <a:lnSpc>
                <a:spcPct val="100000"/>
              </a:lnSpc>
              <a:spcBef>
                <a:spcPts val="5"/>
              </a:spcBef>
            </a:pPr>
            <a:r>
              <a:rPr sz="1000" spc="-10" dirty="0">
                <a:latin typeface="Arial MT"/>
                <a:cs typeface="Arial MT"/>
              </a:rPr>
              <a:t>RegWriteM</a:t>
            </a:r>
            <a:endParaRPr sz="1000">
              <a:latin typeface="Arial MT"/>
              <a:cs typeface="Arial MT"/>
            </a:endParaRPr>
          </a:p>
          <a:p>
            <a:pPr marL="12700" marR="5080">
              <a:lnSpc>
                <a:spcPct val="151200"/>
              </a:lnSpc>
              <a:spcBef>
                <a:spcPts val="204"/>
              </a:spcBef>
            </a:pPr>
            <a:r>
              <a:rPr sz="1000" spc="-25" dirty="0">
                <a:latin typeface="Arial MT"/>
                <a:cs typeface="Arial MT"/>
              </a:rPr>
              <a:t>RdW </a:t>
            </a:r>
            <a:r>
              <a:rPr sz="1000" spc="-10" dirty="0">
                <a:latin typeface="Arial MT"/>
                <a:cs typeface="Arial MT"/>
              </a:rPr>
              <a:t>RegWriteW</a:t>
            </a:r>
            <a:endParaRPr sz="1000">
              <a:latin typeface="Arial MT"/>
              <a:cs typeface="Arial MT"/>
            </a:endParaRPr>
          </a:p>
        </p:txBody>
      </p:sp>
      <p:sp>
        <p:nvSpPr>
          <p:cNvPr id="7" name="object 7"/>
          <p:cNvSpPr txBox="1"/>
          <p:nvPr/>
        </p:nvSpPr>
        <p:spPr>
          <a:xfrm>
            <a:off x="6622225" y="3683864"/>
            <a:ext cx="167640" cy="294005"/>
          </a:xfrm>
          <a:prstGeom prst="rect">
            <a:avLst/>
          </a:prstGeom>
        </p:spPr>
        <p:txBody>
          <a:bodyPr vert="vert270" wrap="square" lIns="0" tIns="635" rIns="0" bIns="0" rtlCol="0">
            <a:spAutoFit/>
          </a:bodyPr>
          <a:lstStyle/>
          <a:p>
            <a:pPr marL="12700">
              <a:lnSpc>
                <a:spcPct val="100000"/>
              </a:lnSpc>
              <a:spcBef>
                <a:spcPts val="5"/>
              </a:spcBef>
            </a:pPr>
            <a:r>
              <a:rPr sz="1000" spc="-25" dirty="0">
                <a:latin typeface="Arial MT"/>
                <a:cs typeface="Arial MT"/>
              </a:rPr>
              <a:t>RdM</a:t>
            </a:r>
            <a:endParaRPr sz="1000">
              <a:latin typeface="Arial MT"/>
              <a:cs typeface="Arial MT"/>
            </a:endParaRPr>
          </a:p>
        </p:txBody>
      </p:sp>
      <p:sp>
        <p:nvSpPr>
          <p:cNvPr id="8" name="object 8"/>
          <p:cNvSpPr txBox="1"/>
          <p:nvPr/>
        </p:nvSpPr>
        <p:spPr>
          <a:xfrm>
            <a:off x="4641025" y="3641949"/>
            <a:ext cx="320040" cy="335915"/>
          </a:xfrm>
          <a:prstGeom prst="rect">
            <a:avLst/>
          </a:prstGeom>
        </p:spPr>
        <p:txBody>
          <a:bodyPr vert="vert270" wrap="square" lIns="0" tIns="635" rIns="0" bIns="0" rtlCol="0">
            <a:spAutoFit/>
          </a:bodyPr>
          <a:lstStyle/>
          <a:p>
            <a:pPr marL="12700" marR="5080">
              <a:lnSpc>
                <a:spcPct val="100000"/>
              </a:lnSpc>
              <a:spcBef>
                <a:spcPts val="5"/>
              </a:spcBef>
            </a:pPr>
            <a:r>
              <a:rPr sz="1000" spc="-20" dirty="0">
                <a:latin typeface="Arial MT"/>
                <a:cs typeface="Arial MT"/>
              </a:rPr>
              <a:t>Rs2E Rs1E</a:t>
            </a:r>
            <a:endParaRPr sz="1000">
              <a:latin typeface="Arial MT"/>
              <a:cs typeface="Arial MT"/>
            </a:endParaRPr>
          </a:p>
        </p:txBody>
      </p:sp>
      <p:sp>
        <p:nvSpPr>
          <p:cNvPr id="9" name="object 9"/>
          <p:cNvSpPr txBox="1"/>
          <p:nvPr/>
        </p:nvSpPr>
        <p:spPr>
          <a:xfrm>
            <a:off x="5098225" y="3317947"/>
            <a:ext cx="320040" cy="659765"/>
          </a:xfrm>
          <a:prstGeom prst="rect">
            <a:avLst/>
          </a:prstGeom>
        </p:spPr>
        <p:txBody>
          <a:bodyPr vert="vert270" wrap="square" lIns="0" tIns="635" rIns="0" bIns="0" rtlCol="0">
            <a:spAutoFit/>
          </a:bodyPr>
          <a:lstStyle/>
          <a:p>
            <a:pPr marL="12700" marR="5080">
              <a:lnSpc>
                <a:spcPct val="100000"/>
              </a:lnSpc>
              <a:spcBef>
                <a:spcPts val="5"/>
              </a:spcBef>
            </a:pPr>
            <a:r>
              <a:rPr sz="1000" spc="-10" dirty="0">
                <a:latin typeface="Arial MT"/>
                <a:cs typeface="Arial MT"/>
              </a:rPr>
              <a:t>ForwardAE ForwardBE</a:t>
            </a:r>
            <a:endParaRPr sz="1000">
              <a:latin typeface="Arial MT"/>
              <a:cs typeface="Arial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65" y="1843254"/>
            <a:ext cx="5097780" cy="1244600"/>
          </a:xfrm>
          <a:prstGeom prst="rect">
            <a:avLst/>
          </a:prstGeom>
        </p:spPr>
        <p:txBody>
          <a:bodyPr vert="horz" wrap="square" lIns="0" tIns="12700" rIns="0" bIns="0" rtlCol="0">
            <a:spAutoFit/>
          </a:bodyPr>
          <a:lstStyle/>
          <a:p>
            <a:pPr marL="628015" marR="5080" indent="-615950">
              <a:lnSpc>
                <a:spcPct val="100000"/>
              </a:lnSpc>
              <a:spcBef>
                <a:spcPts val="100"/>
              </a:spcBef>
            </a:pPr>
            <a:r>
              <a:rPr sz="4000" spc="-160" dirty="0"/>
              <a:t>Implementntion</a:t>
            </a:r>
            <a:r>
              <a:rPr sz="4000" spc="-114" dirty="0"/>
              <a:t> </a:t>
            </a:r>
            <a:r>
              <a:rPr sz="4000" spc="-25" dirty="0"/>
              <a:t>of </a:t>
            </a:r>
            <a:r>
              <a:rPr sz="4000" spc="-85" dirty="0"/>
              <a:t>Pipeline</a:t>
            </a:r>
            <a:r>
              <a:rPr sz="4000" spc="-204" dirty="0"/>
              <a:t> </a:t>
            </a:r>
            <a:r>
              <a:rPr sz="4000" spc="-190" dirty="0"/>
              <a:t>Top</a:t>
            </a:r>
            <a:r>
              <a:rPr sz="4000" spc="-200" dirty="0"/>
              <a:t> </a:t>
            </a:r>
            <a:r>
              <a:rPr sz="4000" spc="-880" dirty="0"/>
              <a:t>II</a:t>
            </a:r>
            <a:endParaRPr sz="4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4000" cy="5143500"/>
          </a:xfrm>
          <a:prstGeom prst="rect">
            <a:avLst/>
          </a:prstGeom>
        </p:spPr>
      </p:pic>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55" dirty="0" err="1"/>
              <a:t>Upd</a:t>
            </a:r>
            <a:r>
              <a:rPr lang="en-GB" spc="-55" dirty="0"/>
              <a:t>a</a:t>
            </a:r>
            <a:r>
              <a:rPr spc="-55" dirty="0"/>
              <a:t>ted</a:t>
            </a:r>
            <a:r>
              <a:rPr spc="-125" dirty="0"/>
              <a:t> </a:t>
            </a:r>
            <a:r>
              <a:rPr spc="-35" dirty="0"/>
              <a:t>Pipeline</a:t>
            </a:r>
            <a:r>
              <a:rPr spc="-125" dirty="0"/>
              <a:t> </a:t>
            </a:r>
            <a:r>
              <a:rPr spc="-100" dirty="0"/>
              <a:t>Top</a:t>
            </a:r>
            <a:r>
              <a:rPr spc="-120" dirty="0"/>
              <a:t> </a:t>
            </a:r>
            <a:r>
              <a:rPr spc="-25" dirty="0"/>
              <a:t>Architecture</a:t>
            </a:r>
          </a:p>
        </p:txBody>
      </p:sp>
      <p:pic>
        <p:nvPicPr>
          <p:cNvPr id="4" name="object 4"/>
          <p:cNvPicPr/>
          <p:nvPr/>
        </p:nvPicPr>
        <p:blipFill>
          <a:blip r:embed="rId3" cstate="print"/>
          <a:stretch>
            <a:fillRect/>
          </a:stretch>
        </p:blipFill>
        <p:spPr>
          <a:xfrm>
            <a:off x="1196701" y="879499"/>
            <a:ext cx="6609198" cy="4264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9451" y="2078930"/>
            <a:ext cx="2882900" cy="635000"/>
          </a:xfrm>
          <a:prstGeom prst="rect">
            <a:avLst/>
          </a:prstGeom>
        </p:spPr>
        <p:txBody>
          <a:bodyPr vert="horz" wrap="square" lIns="0" tIns="12700" rIns="0" bIns="0" rtlCol="0">
            <a:spAutoFit/>
          </a:bodyPr>
          <a:lstStyle/>
          <a:p>
            <a:pPr marL="12700">
              <a:lnSpc>
                <a:spcPct val="100000"/>
              </a:lnSpc>
              <a:spcBef>
                <a:spcPts val="100"/>
              </a:spcBef>
            </a:pPr>
            <a:r>
              <a:rPr sz="4000" spc="-175" dirty="0"/>
              <a:t>Th</a:t>
            </a:r>
            <a:r>
              <a:rPr lang="en-GB" sz="4000" spc="-175" dirty="0" err="1"/>
              <a:t>ank</a:t>
            </a:r>
            <a:r>
              <a:rPr sz="4000" spc="-160" dirty="0"/>
              <a:t> </a:t>
            </a:r>
            <a:r>
              <a:rPr sz="4000" spc="-165" dirty="0"/>
              <a:t>You</a:t>
            </a:r>
            <a:endParaRPr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TotalTime>
  <Words>611</Words>
  <Application>Microsoft Office PowerPoint</Application>
  <PresentationFormat>On-screen Show (16:9)</PresentationFormat>
  <Paragraphs>121</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Arial MT</vt:lpstr>
      <vt:lpstr>Calibri</vt:lpstr>
      <vt:lpstr>Times New Roman</vt:lpstr>
      <vt:lpstr>Verdana</vt:lpstr>
      <vt:lpstr>Office Theme</vt:lpstr>
      <vt:lpstr>PowerPoint Presentation</vt:lpstr>
      <vt:lpstr>PowerPoint Presentation</vt:lpstr>
      <vt:lpstr>Single Cycle Processor</vt:lpstr>
      <vt:lpstr>Single Cycle</vt:lpstr>
      <vt:lpstr>Single Cycle Flow</vt:lpstr>
      <vt:lpstr>Overview of RISC-V Pipeline Architecture</vt:lpstr>
      <vt:lpstr>Pipelining</vt:lpstr>
      <vt:lpstr>Single Cycle Vs. Pipelining</vt:lpstr>
      <vt:lpstr>Pipeline Datapath</vt:lpstr>
      <vt:lpstr>Implementntion of Fetch Cycle</vt:lpstr>
      <vt:lpstr>Abstract View of Pipelining</vt:lpstr>
      <vt:lpstr>Fetch Cycle Datapath</vt:lpstr>
      <vt:lpstr>Implementntion of Decode Cycle</vt:lpstr>
      <vt:lpstr>Decode Cycle Datapath</vt:lpstr>
      <vt:lpstr>Implementntion of Execute Cycle</vt:lpstr>
      <vt:lpstr>Execute Cycle Datapath</vt:lpstr>
      <vt:lpstr>Implementntion of Memory Cycle</vt:lpstr>
      <vt:lpstr>Memory Cycle Datapath</vt:lpstr>
      <vt:lpstr>Implementntion of Write Back Cycle</vt:lpstr>
      <vt:lpstr>Write Back Cycle Datapath</vt:lpstr>
      <vt:lpstr>Pipeline Hazards</vt:lpstr>
      <vt:lpstr>Pipeline Hazard</vt:lpstr>
      <vt:lpstr>Data Hazard In Pipelining</vt:lpstr>
      <vt:lpstr>Solution of Data Hazards</vt:lpstr>
      <vt:lpstr>Using Nops</vt:lpstr>
      <vt:lpstr>Using Forwarding / Bypassing</vt:lpstr>
      <vt:lpstr>Updated Pipeline Top Architecture</vt:lpstr>
      <vt:lpstr>Implementntion of Hazard Unit</vt:lpstr>
      <vt:lpstr>Condition Tnble</vt:lpstr>
      <vt:lpstr>Condition for Data Hazard</vt:lpstr>
      <vt:lpstr>Implementntion of Pipeline Top II</vt:lpstr>
      <vt:lpstr>Updated Pipeline Top Architecture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Architecture</dc:title>
  <cp:lastModifiedBy>Muhammad Hammad</cp:lastModifiedBy>
  <cp:revision>1</cp:revision>
  <dcterms:created xsi:type="dcterms:W3CDTF">2025-12-15T22:23:31Z</dcterms:created>
  <dcterms:modified xsi:type="dcterms:W3CDTF">2025-12-21T13:15:50Z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2025-12-15T00:00:00Z</vt:filetime>
  </property>
  <property fmtid="{D5CDD505-2E9C-101B-9397-08002B2CF9AE}" pid="3" name="Creator">
    <vt:lpwstr>Google</vt:lpwstr>
  </property>
  <property fmtid="{D5CDD505-2E9C-101B-9397-08002B2CF9AE}" pid="4" name="LastSaved">
    <vt:filetime>2025-12-15T00:00:00Z</vt:filetime>
  </property>
</Properties>
</file>